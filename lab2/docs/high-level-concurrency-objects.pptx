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302" r:id="rId4"/>
    <p:sldId id="300" r:id="rId5"/>
    <p:sldId id="259" r:id="rId6"/>
    <p:sldId id="304" r:id="rId7"/>
    <p:sldId id="260" r:id="rId8"/>
    <p:sldId id="305" r:id="rId9"/>
    <p:sldId id="273" r:id="rId10"/>
    <p:sldId id="275" r:id="rId11"/>
    <p:sldId id="303" r:id="rId12"/>
    <p:sldId id="306" r:id="rId13"/>
    <p:sldId id="298" r:id="rId14"/>
    <p:sldId id="307" r:id="rId15"/>
    <p:sldId id="274" r:id="rId16"/>
    <p:sldId id="308" r:id="rId17"/>
    <p:sldId id="299" r:id="rId18"/>
    <p:sldId id="301" r:id="rId19"/>
  </p:sldIdLst>
  <p:sldSz cx="9144000" cy="6858000" type="screen4x3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1841"/>
    <p:restoredTop sz="94733"/>
  </p:normalViewPr>
  <p:slideViewPr>
    <p:cSldViewPr>
      <p:cViewPr varScale="1">
        <p:scale>
          <a:sx n="90" d="100"/>
          <a:sy n="90" d="100"/>
        </p:scale>
        <p:origin x="216" y="70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>
      <p:cViewPr varScale="1">
        <p:scale>
          <a:sx n="85" d="100"/>
          <a:sy n="85" d="100"/>
        </p:scale>
        <p:origin x="1232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5A34EF-97ED-4DA0-9C99-BE172558651D}" type="datetimeFigureOut">
              <a:rPr lang="uk-UA" smtClean="0"/>
              <a:t>16.02.26</a:t>
            </a:fld>
            <a:endParaRPr lang="uk-UA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52A98A-656A-4814-9E41-DC01A143C995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992116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52A98A-656A-4814-9E41-DC01A143C995}" type="slidenum">
              <a:rPr lang="uk-UA" smtClean="0"/>
              <a:t>1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7138170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uk-UA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80FB2-F802-48D6-9C3C-B8D30287F92D}" type="datetimeFigureOut">
              <a:rPr lang="uk-UA" smtClean="0"/>
              <a:t>16.02.26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6D913-4C43-4FE8-AACF-A9526814EA5E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627415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80FB2-F802-48D6-9C3C-B8D30287F92D}" type="datetimeFigureOut">
              <a:rPr lang="uk-UA" smtClean="0"/>
              <a:t>16.02.26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6D913-4C43-4FE8-AACF-A9526814EA5E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356090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80FB2-F802-48D6-9C3C-B8D30287F92D}" type="datetimeFigureOut">
              <a:rPr lang="uk-UA" smtClean="0"/>
              <a:t>16.02.26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6D913-4C43-4FE8-AACF-A9526814EA5E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672382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80FB2-F802-48D6-9C3C-B8D30287F92D}" type="datetimeFigureOut">
              <a:rPr lang="uk-UA" smtClean="0"/>
              <a:t>16.02.26</a:t>
            </a:fld>
            <a:endParaRPr lang="uk-UA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6D913-4C43-4FE8-AACF-A9526814EA5E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9474825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80FB2-F802-48D6-9C3C-B8D30287F92D}" type="datetimeFigureOut">
              <a:rPr lang="uk-UA" smtClean="0"/>
              <a:t>16.02.26</a:t>
            </a:fld>
            <a:endParaRPr lang="uk-UA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6D913-4C43-4FE8-AACF-A9526814EA5E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298944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80FB2-F802-48D6-9C3C-B8D30287F92D}" type="datetimeFigureOut">
              <a:rPr lang="uk-UA" smtClean="0"/>
              <a:t>16.02.26</a:t>
            </a:fld>
            <a:endParaRPr lang="uk-UA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6D913-4C43-4FE8-AACF-A9526814EA5E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964437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80FB2-F802-48D6-9C3C-B8D30287F92D}" type="datetimeFigureOut">
              <a:rPr lang="uk-UA" smtClean="0"/>
              <a:t>16.02.26</a:t>
            </a:fld>
            <a:endParaRPr lang="uk-UA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6D913-4C43-4FE8-AACF-A9526814EA5E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56106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80FB2-F802-48D6-9C3C-B8D30287F92D}" type="datetimeFigureOut">
              <a:rPr lang="uk-UA" smtClean="0"/>
              <a:t>16.02.26</a:t>
            </a:fld>
            <a:endParaRPr lang="uk-UA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6D913-4C43-4FE8-AACF-A9526814EA5E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15641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80FB2-F802-48D6-9C3C-B8D30287F92D}" type="datetimeFigureOut">
              <a:rPr lang="uk-UA" smtClean="0"/>
              <a:t>16.02.26</a:t>
            </a:fld>
            <a:endParaRPr lang="uk-UA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6D913-4C43-4FE8-AACF-A9526814EA5E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143607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80FB2-F802-48D6-9C3C-B8D30287F92D}" type="datetimeFigureOut">
              <a:rPr lang="uk-UA" smtClean="0"/>
              <a:t>16.02.26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6D913-4C43-4FE8-AACF-A9526814EA5E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2537138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80FB2-F802-48D6-9C3C-B8D30287F92D}" type="datetimeFigureOut">
              <a:rPr lang="uk-UA" smtClean="0"/>
              <a:t>16.02.26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6D913-4C43-4FE8-AACF-A9526814EA5E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8432140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180FB2-F802-48D6-9C3C-B8D30287F92D}" type="datetimeFigureOut">
              <a:rPr lang="uk-UA" smtClean="0"/>
              <a:t>16.02.26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16D913-4C43-4FE8-AACF-A9526814EA5E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8339378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uk-UA" dirty="0" err="1"/>
              <a:t>Високорівневі</a:t>
            </a:r>
            <a:r>
              <a:rPr lang="uk-UA" dirty="0"/>
              <a:t> засоби </a:t>
            </a:r>
            <a:r>
              <a:rPr lang="ru-RU" dirty="0" err="1"/>
              <a:t>паралельного</a:t>
            </a:r>
            <a:r>
              <a:rPr lang="ru-RU" dirty="0"/>
              <a:t> </a:t>
            </a:r>
            <a:r>
              <a:rPr lang="ru-RU" dirty="0" err="1"/>
              <a:t>програмування</a:t>
            </a:r>
            <a:r>
              <a:rPr lang="ru-RU" dirty="0"/>
              <a:t> </a:t>
            </a:r>
            <a:br>
              <a:rPr lang="ru-RU" dirty="0"/>
            </a:br>
            <a:r>
              <a:rPr lang="ru-RU" dirty="0"/>
              <a:t>в </a:t>
            </a:r>
            <a:r>
              <a:rPr lang="uk-UA" dirty="0"/>
              <a:t>технології </a:t>
            </a:r>
            <a:r>
              <a:rPr lang="en-US" dirty="0"/>
              <a:t>java</a:t>
            </a:r>
            <a:br>
              <a:rPr lang="en-US" dirty="0"/>
            </a:br>
            <a:endParaRPr lang="uk-UA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7567647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dirty="0" err="1"/>
              <a:t>Високорівневі</a:t>
            </a:r>
            <a:r>
              <a:rPr lang="uk-UA" dirty="0"/>
              <a:t> засоби управління потоками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High Level Concurrency Objects</a:t>
            </a:r>
          </a:p>
          <a:p>
            <a:pPr marL="0" indent="0" algn="ctr">
              <a:buNone/>
            </a:pPr>
            <a:endParaRPr lang="en-US" dirty="0"/>
          </a:p>
          <a:p>
            <a:pPr marL="0" indent="0">
              <a:buNone/>
            </a:pPr>
            <a:r>
              <a:rPr lang="en-US" sz="2400" dirty="0"/>
              <a:t>Lock Objects		</a:t>
            </a:r>
          </a:p>
          <a:p>
            <a:pPr marL="0" indent="0">
              <a:buNone/>
            </a:pPr>
            <a:r>
              <a:rPr lang="en-US" sz="2400" dirty="0"/>
              <a:t>	Executors	</a:t>
            </a:r>
          </a:p>
          <a:p>
            <a:pPr marL="0" indent="0">
              <a:buNone/>
            </a:pPr>
            <a:r>
              <a:rPr lang="en-US" sz="2400" dirty="0"/>
              <a:t>		Fork/Join Framework	</a:t>
            </a:r>
          </a:p>
          <a:p>
            <a:pPr marL="0" indent="0">
              <a:buNone/>
            </a:pPr>
            <a:r>
              <a:rPr lang="en-US" sz="2400" dirty="0"/>
              <a:t>			</a:t>
            </a:r>
            <a:r>
              <a:rPr lang="uk-UA" sz="2400" dirty="0"/>
              <a:t>      </a:t>
            </a:r>
            <a:r>
              <a:rPr lang="en-US" sz="2400" dirty="0"/>
              <a:t>Concurrent Collections	</a:t>
            </a:r>
          </a:p>
          <a:p>
            <a:pPr marL="0" indent="0">
              <a:buNone/>
            </a:pPr>
            <a:r>
              <a:rPr lang="en-US" sz="2400" dirty="0"/>
              <a:t>		 				Atomic Variables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uk-UA" dirty="0"/>
          </a:p>
        </p:txBody>
      </p:sp>
      <p:cxnSp>
        <p:nvCxnSpPr>
          <p:cNvPr id="5" name="Прямая со стрелкой 4"/>
          <p:cNvCxnSpPr/>
          <p:nvPr/>
        </p:nvCxnSpPr>
        <p:spPr>
          <a:xfrm flipH="1">
            <a:off x="1979712" y="2132856"/>
            <a:ext cx="792088" cy="576064"/>
          </a:xfrm>
          <a:prstGeom prst="straightConnector1">
            <a:avLst/>
          </a:prstGeom>
          <a:ln>
            <a:tailEnd type="arrow"/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" name="Прямая со стрелкой 6"/>
          <p:cNvCxnSpPr/>
          <p:nvPr/>
        </p:nvCxnSpPr>
        <p:spPr>
          <a:xfrm flipH="1">
            <a:off x="3779912" y="2276872"/>
            <a:ext cx="360040" cy="1488926"/>
          </a:xfrm>
          <a:prstGeom prst="straightConnector1">
            <a:avLst/>
          </a:prstGeom>
          <a:ln>
            <a:tailEnd type="arrow"/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" name="Прямая со стрелкой 9"/>
          <p:cNvCxnSpPr/>
          <p:nvPr/>
        </p:nvCxnSpPr>
        <p:spPr>
          <a:xfrm>
            <a:off x="5868144" y="2162969"/>
            <a:ext cx="1008112" cy="2274143"/>
          </a:xfrm>
          <a:prstGeom prst="straightConnector1">
            <a:avLst/>
          </a:prstGeom>
          <a:ln>
            <a:tailEnd type="arrow"/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2" name="Прямая со стрелкой 11"/>
          <p:cNvCxnSpPr/>
          <p:nvPr/>
        </p:nvCxnSpPr>
        <p:spPr>
          <a:xfrm flipH="1">
            <a:off x="2627784" y="2178025"/>
            <a:ext cx="792088" cy="1122015"/>
          </a:xfrm>
          <a:prstGeom prst="straightConnector1">
            <a:avLst/>
          </a:prstGeom>
          <a:ln>
            <a:tailEnd type="arrow"/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Прямая со стрелкой 13"/>
          <p:cNvCxnSpPr/>
          <p:nvPr/>
        </p:nvCxnSpPr>
        <p:spPr>
          <a:xfrm>
            <a:off x="5004048" y="2276872"/>
            <a:ext cx="504056" cy="1800200"/>
          </a:xfrm>
          <a:prstGeom prst="straightConnector1">
            <a:avLst/>
          </a:prstGeom>
          <a:ln>
            <a:tailEnd type="arrow"/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26697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F4C7C-B8B8-7147-9C3F-FC1A102EA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Властивість </a:t>
            </a:r>
            <a:r>
              <a:rPr lang="en-US" dirty="0"/>
              <a:t>Reentrance</a:t>
            </a:r>
            <a:endParaRPr lang="en-U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8C3AD0-74CF-D148-A468-61380A451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7859216" cy="2188839"/>
          </a:xfrm>
          <a:ln>
            <a:solidFill>
              <a:srgbClr val="0070C0"/>
            </a:solidFill>
          </a:ln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ReentranceExample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public synchronized f(){ 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	g(); // </a:t>
            </a:r>
            <a:r>
              <a:rPr lang="uk-UA" sz="1600" dirty="0">
                <a:cs typeface="Courier New" panose="02070309020205020404" pitchFamily="49" charset="0"/>
              </a:rPr>
              <a:t>виклик можливий, оскільки монітор належить потоку</a:t>
            </a:r>
            <a:endParaRPr lang="en-US" sz="1600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} 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public synchronized g(){ 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	… // </a:t>
            </a:r>
            <a:r>
              <a:rPr lang="uk-UA" sz="1600" dirty="0">
                <a:cs typeface="Courier New" panose="02070309020205020404" pitchFamily="49" charset="0"/>
              </a:rPr>
              <a:t>код методу</a:t>
            </a:r>
            <a:endParaRPr lang="en-US" sz="1600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} 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A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0008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990F1-DEF1-1D47-B331-88793B8F1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Інтерфейс </a:t>
            </a:r>
            <a:r>
              <a:rPr lang="en-US" dirty="0"/>
              <a:t>Lock</a:t>
            </a:r>
            <a:endParaRPr lang="en-UA" dirty="0"/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823FC35B-55E3-6545-BC73-2F0397A296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5144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M</a:t>
            </a:r>
            <a:r>
              <a:rPr lang="uk-UA" dirty="0" err="1"/>
              <a:t>етоди</a:t>
            </a:r>
            <a:r>
              <a:rPr lang="uk-UA" dirty="0"/>
              <a:t> інтерфейсу </a:t>
            </a:r>
            <a:r>
              <a:rPr lang="en-US" dirty="0"/>
              <a:t>Lock</a:t>
            </a:r>
            <a:r>
              <a:rPr lang="uk-UA" dirty="0"/>
              <a:t>:</a:t>
            </a:r>
          </a:p>
          <a:p>
            <a:pPr marL="400050" lvl="1" indent="0">
              <a:buNone/>
            </a:pPr>
            <a:r>
              <a:rPr lang="en-US" dirty="0">
                <a:latin typeface="Courier" pitchFamily="2" charset="0"/>
              </a:rPr>
              <a:t>lock() </a:t>
            </a:r>
            <a:r>
              <a:rPr lang="en-US" dirty="0"/>
              <a:t>– </a:t>
            </a:r>
            <a:r>
              <a:rPr lang="uk-UA" dirty="0"/>
              <a:t>блокує об</a:t>
            </a:r>
            <a:r>
              <a:rPr lang="en-US" dirty="0"/>
              <a:t>’</a:t>
            </a:r>
            <a:r>
              <a:rPr lang="uk-UA" dirty="0" err="1"/>
              <a:t>єкт</a:t>
            </a:r>
            <a:r>
              <a:rPr lang="uk-UA" dirty="0"/>
              <a:t>, якщо той незаблокований іншим потоком, або встановлює потік у стан заблокований і примушує його очікувати звільнення </a:t>
            </a:r>
            <a:r>
              <a:rPr lang="uk-UA" dirty="0" err="1"/>
              <a:t>локера</a:t>
            </a:r>
            <a:r>
              <a:rPr lang="uk-UA" dirty="0"/>
              <a:t> (може повторно блокувати об’єкт, якщо </a:t>
            </a:r>
            <a:r>
              <a:rPr lang="uk-UA" dirty="0" err="1"/>
              <a:t>локер</a:t>
            </a:r>
            <a:r>
              <a:rPr lang="uk-UA" dirty="0"/>
              <a:t> був захоплений тим самим потоком)</a:t>
            </a:r>
            <a:endParaRPr lang="en-US" dirty="0"/>
          </a:p>
          <a:p>
            <a:pPr marL="400050" lvl="1" indent="0">
              <a:buNone/>
            </a:pPr>
            <a:r>
              <a:rPr lang="en-US" dirty="0" err="1"/>
              <a:t>tryLock</a:t>
            </a:r>
            <a:r>
              <a:rPr lang="en-US" dirty="0"/>
              <a:t>() – </a:t>
            </a:r>
            <a:r>
              <a:rPr lang="uk-UA" dirty="0"/>
              <a:t>блокує об</a:t>
            </a:r>
            <a:r>
              <a:rPr lang="en-US" dirty="0"/>
              <a:t>’</a:t>
            </a:r>
            <a:r>
              <a:rPr lang="uk-UA" dirty="0" err="1"/>
              <a:t>єкт</a:t>
            </a:r>
            <a:r>
              <a:rPr lang="uk-UA" dirty="0"/>
              <a:t> тільки</a:t>
            </a:r>
            <a:r>
              <a:rPr lang="en-US" dirty="0"/>
              <a:t>,</a:t>
            </a:r>
            <a:r>
              <a:rPr lang="uk-UA" dirty="0"/>
              <a:t> якщо він в стані незаблокований, і</a:t>
            </a:r>
            <a:r>
              <a:rPr lang="en-US" dirty="0"/>
              <a:t> </a:t>
            </a:r>
            <a:r>
              <a:rPr lang="uk-UA" dirty="0"/>
              <a:t>надає інформацію про успішність блокування (таку інформацію можна потім обробити в програмі)</a:t>
            </a:r>
            <a:r>
              <a:rPr lang="en-US" dirty="0"/>
              <a:t> </a:t>
            </a:r>
          </a:p>
          <a:p>
            <a:pPr marL="400050" lvl="1" indent="0">
              <a:buNone/>
            </a:pPr>
            <a:r>
              <a:rPr lang="en-US" dirty="0">
                <a:latin typeface="Courier" pitchFamily="2" charset="0"/>
              </a:rPr>
              <a:t>unlock()</a:t>
            </a:r>
            <a:r>
              <a:rPr lang="uk-UA" dirty="0"/>
              <a:t> – розблоковує об</a:t>
            </a:r>
            <a:r>
              <a:rPr lang="en-US" dirty="0"/>
              <a:t>’</a:t>
            </a:r>
            <a:r>
              <a:rPr lang="uk-UA" dirty="0" err="1"/>
              <a:t>єкт</a:t>
            </a:r>
            <a:r>
              <a:rPr lang="uk-UA" dirty="0"/>
              <a:t>, якщо він був блокований</a:t>
            </a:r>
            <a:endParaRPr lang="en-US" dirty="0"/>
          </a:p>
          <a:p>
            <a:pPr marL="400050" lvl="1" indent="0">
              <a:buNone/>
            </a:pPr>
            <a:r>
              <a:rPr lang="en-US" dirty="0" err="1">
                <a:latin typeface="Courier" pitchFamily="2" charset="0"/>
              </a:rPr>
              <a:t>newCondition</a:t>
            </a:r>
            <a:r>
              <a:rPr lang="en-US" dirty="0">
                <a:latin typeface="Courier" pitchFamily="2" charset="0"/>
              </a:rPr>
              <a:t>()</a:t>
            </a:r>
            <a:r>
              <a:rPr lang="uk-UA" dirty="0"/>
              <a:t> – створює екземпляр класу </a:t>
            </a:r>
            <a:r>
              <a:rPr lang="en-US" dirty="0"/>
              <a:t>Condition</a:t>
            </a:r>
            <a:r>
              <a:rPr lang="uk-UA" dirty="0"/>
              <a:t>, який прикріплюється до даного </a:t>
            </a:r>
            <a:r>
              <a:rPr lang="en-US" dirty="0"/>
              <a:t>Lock</a:t>
            </a:r>
            <a:r>
              <a:rPr lang="uk-UA" dirty="0"/>
              <a:t>-</a:t>
            </a:r>
            <a:r>
              <a:rPr lang="ru-RU" dirty="0" err="1"/>
              <a:t>екземпляру</a:t>
            </a:r>
            <a:r>
              <a:rPr lang="uk-UA" dirty="0"/>
              <a:t> і використовується методами </a:t>
            </a:r>
            <a:r>
              <a:rPr lang="en-US" dirty="0"/>
              <a:t>await(), signal() </a:t>
            </a:r>
            <a:r>
              <a:rPr lang="uk-UA" dirty="0"/>
              <a:t>для організації очікування за умовою</a:t>
            </a:r>
            <a:endParaRPr lang="en-US" dirty="0"/>
          </a:p>
          <a:p>
            <a:pPr marL="0" indent="0">
              <a:buNone/>
            </a:pPr>
            <a:endParaRPr lang="uk-UA" dirty="0"/>
          </a:p>
          <a:p>
            <a:pPr marL="0" indent="0">
              <a:buNone/>
            </a:pPr>
            <a:endParaRPr lang="uk-UA" dirty="0"/>
          </a:p>
          <a:p>
            <a:pPr marL="0" indent="0">
              <a:buNone/>
            </a:pPr>
            <a:r>
              <a:rPr lang="en-US" dirty="0"/>
              <a:t>Example:</a:t>
            </a:r>
          </a:p>
          <a:p>
            <a:pPr marL="400050" lvl="1" indent="0">
              <a:buNone/>
            </a:pPr>
            <a:r>
              <a:rPr lang="en-US" dirty="0">
                <a:latin typeface="Courier" pitchFamily="2" charset="0"/>
              </a:rPr>
              <a:t>Lock lock = ...; </a:t>
            </a:r>
            <a:endParaRPr lang="uk-UA" dirty="0"/>
          </a:p>
          <a:p>
            <a:pPr marL="400050" lvl="1" indent="0">
              <a:buNone/>
            </a:pPr>
            <a:r>
              <a:rPr lang="en-US" dirty="0" err="1">
                <a:latin typeface="Courier" pitchFamily="2" charset="0"/>
              </a:rPr>
              <a:t>lock.lock</a:t>
            </a:r>
            <a:r>
              <a:rPr lang="en-US" dirty="0">
                <a:latin typeface="Courier" pitchFamily="2" charset="0"/>
              </a:rPr>
              <a:t>(); </a:t>
            </a:r>
            <a:r>
              <a:rPr lang="ru-RU" dirty="0"/>
              <a:t>//</a:t>
            </a:r>
            <a:r>
              <a:rPr lang="ru-RU" dirty="0" err="1"/>
              <a:t>блокування</a:t>
            </a:r>
            <a:endParaRPr lang="uk-UA" dirty="0"/>
          </a:p>
          <a:p>
            <a:pPr marL="400050" lvl="1" indent="0">
              <a:buNone/>
            </a:pPr>
            <a:r>
              <a:rPr lang="en-US" dirty="0">
                <a:latin typeface="Courier" pitchFamily="2" charset="0"/>
              </a:rPr>
              <a:t>try { </a:t>
            </a:r>
            <a:endParaRPr lang="uk-UA" dirty="0"/>
          </a:p>
          <a:p>
            <a:pPr marL="400050" lvl="1" indent="0">
              <a:buNone/>
            </a:pPr>
            <a:r>
              <a:rPr lang="uk-UA" dirty="0"/>
              <a:t>	</a:t>
            </a:r>
            <a:r>
              <a:rPr lang="en-US" dirty="0">
                <a:latin typeface="Courier" pitchFamily="2" charset="0"/>
              </a:rPr>
              <a:t>// </a:t>
            </a:r>
            <a:r>
              <a:rPr lang="ru-RU" dirty="0"/>
              <a:t>доступ до ресурсу, </a:t>
            </a:r>
            <a:r>
              <a:rPr lang="ru-RU" dirty="0" err="1"/>
              <a:t>захищеного</a:t>
            </a:r>
            <a:r>
              <a:rPr lang="ru-RU" dirty="0"/>
              <a:t> </a:t>
            </a:r>
            <a:r>
              <a:rPr lang="ru-RU" dirty="0" err="1"/>
              <a:t>цим</a:t>
            </a:r>
            <a:r>
              <a:rPr lang="ru-RU" dirty="0"/>
              <a:t> блоком</a:t>
            </a:r>
            <a:r>
              <a:rPr lang="en-US" dirty="0">
                <a:latin typeface="Courier" pitchFamily="2" charset="0"/>
              </a:rPr>
              <a:t> </a:t>
            </a:r>
            <a:endParaRPr lang="uk-UA" dirty="0"/>
          </a:p>
          <a:p>
            <a:pPr marL="400050" lvl="1" indent="0">
              <a:buNone/>
            </a:pPr>
            <a:r>
              <a:rPr lang="en-US" dirty="0">
                <a:latin typeface="Courier" pitchFamily="2" charset="0"/>
              </a:rPr>
              <a:t>} </a:t>
            </a:r>
            <a:endParaRPr lang="uk-UA" dirty="0"/>
          </a:p>
          <a:p>
            <a:pPr marL="400050" lvl="1" indent="0">
              <a:buNone/>
            </a:pPr>
            <a:r>
              <a:rPr lang="en-US" dirty="0">
                <a:latin typeface="Courier" pitchFamily="2" charset="0"/>
              </a:rPr>
              <a:t>finally { </a:t>
            </a:r>
            <a:endParaRPr lang="uk-UA" dirty="0"/>
          </a:p>
          <a:p>
            <a:pPr marL="400050" lvl="1" indent="0">
              <a:buNone/>
            </a:pPr>
            <a:r>
              <a:rPr lang="uk-UA" dirty="0"/>
              <a:t>	</a:t>
            </a:r>
            <a:r>
              <a:rPr lang="en-US" dirty="0" err="1">
                <a:latin typeface="Courier" pitchFamily="2" charset="0"/>
              </a:rPr>
              <a:t>lock.unlock</a:t>
            </a:r>
            <a:r>
              <a:rPr lang="en-US" dirty="0">
                <a:latin typeface="Courier" pitchFamily="2" charset="0"/>
              </a:rPr>
              <a:t>(); </a:t>
            </a:r>
            <a:r>
              <a:rPr lang="ru-RU" dirty="0"/>
              <a:t>// </a:t>
            </a:r>
            <a:r>
              <a:rPr lang="ru-RU" dirty="0" err="1"/>
              <a:t>розблокування</a:t>
            </a:r>
            <a:endParaRPr lang="uk-UA" dirty="0"/>
          </a:p>
          <a:p>
            <a:pPr marL="400050" lvl="1" indent="0">
              <a:buNone/>
            </a:pPr>
            <a:r>
              <a:rPr lang="en-US" dirty="0">
                <a:latin typeface="Courier" pitchFamily="2" charset="0"/>
              </a:rPr>
              <a:t>}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5231120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 fontScale="90000"/>
          </a:bodyPr>
          <a:lstStyle/>
          <a:p>
            <a:r>
              <a:rPr lang="ru-RU" dirty="0" err="1"/>
              <a:t>Клас</a:t>
            </a:r>
            <a:r>
              <a:rPr lang="ru-RU" dirty="0"/>
              <a:t> </a:t>
            </a:r>
            <a:r>
              <a:rPr lang="en-US" dirty="0" err="1"/>
              <a:t>ReentrantLock</a:t>
            </a:r>
            <a:endParaRPr lang="uk-UA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997840"/>
            <a:ext cx="8784976" cy="5671519"/>
          </a:xfrm>
        </p:spPr>
        <p:txBody>
          <a:bodyPr>
            <a:normAutofit fontScale="62500" lnSpcReduction="20000"/>
          </a:bodyPr>
          <a:lstStyle/>
          <a:p>
            <a:r>
              <a:rPr lang="uk-UA" sz="2200" dirty="0">
                <a:cs typeface="Arial" panose="020B0604020202020204" pitchFamily="34" charset="0"/>
              </a:rPr>
              <a:t>Підтримує інтерфейс</a:t>
            </a:r>
            <a:r>
              <a:rPr lang="en-US" sz="2200" dirty="0">
                <a:cs typeface="Arial" panose="020B0604020202020204" pitchFamily="34" charset="0"/>
              </a:rPr>
              <a:t> Lock</a:t>
            </a:r>
          </a:p>
          <a:p>
            <a:r>
              <a:rPr lang="ru-RU" sz="2200" dirty="0" err="1">
                <a:cs typeface="Arial" panose="020B0604020202020204" pitchFamily="34" charset="0"/>
              </a:rPr>
              <a:t>Об’єкт</a:t>
            </a:r>
            <a:r>
              <a:rPr lang="ru-RU" sz="2200" dirty="0">
                <a:cs typeface="Arial" panose="020B0604020202020204" pitchFamily="34" charset="0"/>
              </a:rPr>
              <a:t> </a:t>
            </a:r>
            <a:r>
              <a:rPr lang="ru-RU" sz="2200" dirty="0" err="1">
                <a:cs typeface="Arial" panose="020B0604020202020204" pitchFamily="34" charset="0"/>
              </a:rPr>
              <a:t>класу</a:t>
            </a:r>
            <a:r>
              <a:rPr lang="ru-RU" sz="2200" dirty="0">
                <a:cs typeface="Arial" panose="020B0604020202020204" pitchFamily="34" charset="0"/>
              </a:rPr>
              <a:t> </a:t>
            </a:r>
            <a:r>
              <a:rPr lang="en-US" sz="2200" dirty="0" err="1">
                <a:cs typeface="Arial" panose="020B0604020202020204" pitchFamily="34" charset="0"/>
              </a:rPr>
              <a:t>ReentrantLock</a:t>
            </a:r>
            <a:r>
              <a:rPr lang="ru-RU" sz="2200" dirty="0">
                <a:cs typeface="Arial" panose="020B0604020202020204" pitchFamily="34" charset="0"/>
              </a:rPr>
              <a:t> </a:t>
            </a:r>
            <a:r>
              <a:rPr lang="ru-RU" sz="2200" dirty="0" err="1">
                <a:cs typeface="Arial" panose="020B0604020202020204" pitchFamily="34" charset="0"/>
              </a:rPr>
              <a:t>привласнює</a:t>
            </a:r>
            <a:r>
              <a:rPr lang="uk-UA" sz="2200" dirty="0" err="1">
                <a:cs typeface="Arial" panose="020B0604020202020204" pitchFamily="34" charset="0"/>
              </a:rPr>
              <a:t>ться</a:t>
            </a:r>
            <a:r>
              <a:rPr lang="ru-RU" sz="2200" dirty="0">
                <a:cs typeface="Arial" panose="020B0604020202020204" pitchFamily="34" charset="0"/>
              </a:rPr>
              <a:t> потоком у </a:t>
            </a:r>
            <a:r>
              <a:rPr lang="ru-RU" sz="2200" dirty="0" err="1">
                <a:cs typeface="Arial" panose="020B0604020202020204" pitchFamily="34" charset="0"/>
              </a:rPr>
              <a:t>разі</a:t>
            </a:r>
            <a:r>
              <a:rPr lang="ru-RU" sz="2200" dirty="0">
                <a:cs typeface="Arial" panose="020B0604020202020204" pitchFamily="34" charset="0"/>
              </a:rPr>
              <a:t> </a:t>
            </a:r>
            <a:r>
              <a:rPr lang="ru-RU" sz="2200" dirty="0" err="1">
                <a:cs typeface="Arial" panose="020B0604020202020204" pitchFamily="34" charset="0"/>
              </a:rPr>
              <a:t>усп</a:t>
            </a:r>
            <a:r>
              <a:rPr lang="uk-UA" sz="2200" dirty="0">
                <a:cs typeface="Arial" panose="020B0604020202020204" pitchFamily="34" charset="0"/>
              </a:rPr>
              <a:t>і</a:t>
            </a:r>
            <a:r>
              <a:rPr lang="ru-RU" sz="2200" dirty="0" err="1">
                <a:cs typeface="Arial" panose="020B0604020202020204" pitchFamily="34" charset="0"/>
              </a:rPr>
              <a:t>шного</a:t>
            </a:r>
            <a:r>
              <a:rPr lang="ru-RU" sz="2200" dirty="0">
                <a:cs typeface="Arial" panose="020B0604020202020204" pitchFamily="34" charset="0"/>
              </a:rPr>
              <a:t> </a:t>
            </a:r>
            <a:r>
              <a:rPr lang="ru-RU" sz="2200" dirty="0" err="1">
                <a:cs typeface="Arial" panose="020B0604020202020204" pitchFamily="34" charset="0"/>
              </a:rPr>
              <a:t>блокування</a:t>
            </a:r>
            <a:r>
              <a:rPr lang="ru-RU" sz="2200" dirty="0">
                <a:cs typeface="Arial" panose="020B0604020202020204" pitchFamily="34" charset="0"/>
              </a:rPr>
              <a:t> і </a:t>
            </a:r>
            <a:r>
              <a:rPr lang="ru-RU" sz="2200" dirty="0" err="1">
                <a:cs typeface="Arial" panose="020B0604020202020204" pitchFamily="34" charset="0"/>
              </a:rPr>
              <a:t>належить</a:t>
            </a:r>
            <a:r>
              <a:rPr lang="ru-RU" sz="2200" dirty="0">
                <a:cs typeface="Arial" panose="020B0604020202020204" pitchFamily="34" charset="0"/>
              </a:rPr>
              <a:t> </a:t>
            </a:r>
            <a:r>
              <a:rPr lang="ru-RU" sz="2200" dirty="0" err="1">
                <a:cs typeface="Arial" panose="020B0604020202020204" pitchFamily="34" charset="0"/>
              </a:rPr>
              <a:t>йому</a:t>
            </a:r>
            <a:r>
              <a:rPr lang="ru-RU" sz="2200" dirty="0">
                <a:cs typeface="Arial" panose="020B0604020202020204" pitchFamily="34" charset="0"/>
              </a:rPr>
              <a:t> до </a:t>
            </a:r>
            <a:r>
              <a:rPr lang="ru-RU" sz="2200" dirty="0" err="1">
                <a:cs typeface="Arial" panose="020B0604020202020204" pitchFamily="34" charset="0"/>
              </a:rPr>
              <a:t>розблокування</a:t>
            </a:r>
            <a:r>
              <a:rPr lang="ru-RU" sz="2200" dirty="0">
                <a:cs typeface="Arial" panose="020B0604020202020204" pitchFamily="34" charset="0"/>
              </a:rPr>
              <a:t>. </a:t>
            </a:r>
            <a:r>
              <a:rPr lang="ru-RU" sz="2200" dirty="0" err="1">
                <a:cs typeface="Arial" panose="020B0604020202020204" pitchFamily="34" charset="0"/>
              </a:rPr>
              <a:t>Блокування</a:t>
            </a:r>
            <a:r>
              <a:rPr lang="ru-RU" sz="2200" dirty="0">
                <a:cs typeface="Arial" panose="020B0604020202020204" pitchFamily="34" charset="0"/>
              </a:rPr>
              <a:t> </a:t>
            </a:r>
            <a:r>
              <a:rPr lang="ru-RU" sz="2200" dirty="0" err="1">
                <a:cs typeface="Arial" panose="020B0604020202020204" pitchFamily="34" charset="0"/>
              </a:rPr>
              <a:t>об’єкту</a:t>
            </a:r>
            <a:r>
              <a:rPr lang="ru-RU" sz="2200" dirty="0">
                <a:cs typeface="Arial" panose="020B0604020202020204" pitchFamily="34" charset="0"/>
              </a:rPr>
              <a:t> </a:t>
            </a:r>
            <a:r>
              <a:rPr lang="ru-RU" sz="2200" dirty="0" err="1">
                <a:cs typeface="Arial" panose="020B0604020202020204" pitchFamily="34" charset="0"/>
              </a:rPr>
              <a:t>відбувається</a:t>
            </a:r>
            <a:r>
              <a:rPr lang="ru-RU" sz="2200" dirty="0">
                <a:cs typeface="Arial" panose="020B0604020202020204" pitchFamily="34" charset="0"/>
              </a:rPr>
              <a:t> </a:t>
            </a:r>
            <a:r>
              <a:rPr lang="ru-RU" sz="2200" dirty="0" err="1">
                <a:cs typeface="Arial" panose="020B0604020202020204" pitchFamily="34" charset="0"/>
              </a:rPr>
              <a:t>успішно</a:t>
            </a:r>
            <a:r>
              <a:rPr lang="ru-RU" sz="2200" dirty="0">
                <a:cs typeface="Arial" panose="020B0604020202020204" pitchFamily="34" charset="0"/>
              </a:rPr>
              <a:t>, </a:t>
            </a:r>
            <a:r>
              <a:rPr lang="ru-RU" sz="2200" dirty="0" err="1">
                <a:cs typeface="Arial" panose="020B0604020202020204" pitchFamily="34" charset="0"/>
              </a:rPr>
              <a:t>якщо</a:t>
            </a:r>
            <a:r>
              <a:rPr lang="ru-RU" sz="2200" dirty="0">
                <a:cs typeface="Arial" panose="020B0604020202020204" pitchFamily="34" charset="0"/>
              </a:rPr>
              <a:t> на момент </a:t>
            </a:r>
            <a:r>
              <a:rPr lang="ru-RU" sz="2200" dirty="0" err="1">
                <a:cs typeface="Arial" panose="020B0604020202020204" pitchFamily="34" charset="0"/>
              </a:rPr>
              <a:t>запиту</a:t>
            </a:r>
            <a:r>
              <a:rPr lang="ru-RU" sz="2200" dirty="0">
                <a:cs typeface="Arial" panose="020B0604020202020204" pitchFamily="34" charset="0"/>
              </a:rPr>
              <a:t> на </a:t>
            </a:r>
            <a:r>
              <a:rPr lang="ru-RU" sz="2200" dirty="0" err="1">
                <a:cs typeface="Arial" panose="020B0604020202020204" pitchFamily="34" charset="0"/>
              </a:rPr>
              <a:t>блокування</a:t>
            </a:r>
            <a:r>
              <a:rPr lang="ru-RU" sz="2200" dirty="0">
                <a:cs typeface="Arial" panose="020B0604020202020204" pitchFamily="34" charset="0"/>
              </a:rPr>
              <a:t> </a:t>
            </a:r>
            <a:r>
              <a:rPr lang="ru-RU" sz="2200" dirty="0" err="1">
                <a:cs typeface="Arial" panose="020B0604020202020204" pitchFamily="34" charset="0"/>
              </a:rPr>
              <a:t>він</a:t>
            </a:r>
            <a:r>
              <a:rPr lang="ru-RU" sz="2200" dirty="0">
                <a:cs typeface="Arial" panose="020B0604020202020204" pitchFamily="34" charset="0"/>
              </a:rPr>
              <a:t> не </a:t>
            </a:r>
            <a:r>
              <a:rPr lang="ru-RU" sz="2200" dirty="0" err="1">
                <a:cs typeface="Arial" panose="020B0604020202020204" pitchFamily="34" charset="0"/>
              </a:rPr>
              <a:t>привласнений</a:t>
            </a:r>
            <a:r>
              <a:rPr lang="ru-RU" sz="2200" dirty="0">
                <a:cs typeface="Arial" panose="020B0604020202020204" pitchFamily="34" charset="0"/>
              </a:rPr>
              <a:t> </a:t>
            </a:r>
            <a:r>
              <a:rPr lang="ru-RU" sz="2200" dirty="0" err="1">
                <a:cs typeface="Arial" panose="020B0604020202020204" pitchFamily="34" charset="0"/>
              </a:rPr>
              <a:t>іншим</a:t>
            </a:r>
            <a:r>
              <a:rPr lang="ru-RU" sz="2200" dirty="0">
                <a:cs typeface="Arial" panose="020B0604020202020204" pitchFamily="34" charset="0"/>
              </a:rPr>
              <a:t> потоком. </a:t>
            </a:r>
          </a:p>
          <a:p>
            <a:r>
              <a:rPr lang="ru-RU" sz="2200" dirty="0" err="1">
                <a:cs typeface="Arial" panose="020B0604020202020204" pitchFamily="34" charset="0"/>
              </a:rPr>
              <a:t>Потік</a:t>
            </a:r>
            <a:r>
              <a:rPr lang="ru-RU" sz="2200" dirty="0">
                <a:cs typeface="Arial" panose="020B0604020202020204" pitchFamily="34" charset="0"/>
              </a:rPr>
              <a:t>, </a:t>
            </a:r>
            <a:r>
              <a:rPr lang="ru-RU" sz="2200" u="sng" dirty="0" err="1">
                <a:cs typeface="Arial" panose="020B0604020202020204" pitchFamily="34" charset="0"/>
              </a:rPr>
              <a:t>який</a:t>
            </a:r>
            <a:r>
              <a:rPr lang="ru-RU" sz="2200" u="sng" dirty="0">
                <a:cs typeface="Arial" panose="020B0604020202020204" pitchFamily="34" charset="0"/>
              </a:rPr>
              <a:t> </a:t>
            </a:r>
            <a:r>
              <a:rPr lang="ru-RU" sz="2200" u="sng" dirty="0" err="1">
                <a:cs typeface="Arial" panose="020B0604020202020204" pitchFamily="34" charset="0"/>
              </a:rPr>
              <a:t>є</a:t>
            </a:r>
            <a:r>
              <a:rPr lang="ru-RU" sz="2200" u="sng" dirty="0">
                <a:cs typeface="Arial" panose="020B0604020202020204" pitchFamily="34" charset="0"/>
              </a:rPr>
              <a:t> </a:t>
            </a:r>
            <a:r>
              <a:rPr lang="ru-RU" sz="2200" u="sng" dirty="0" err="1">
                <a:cs typeface="Arial" panose="020B0604020202020204" pitchFamily="34" charset="0"/>
              </a:rPr>
              <a:t>власником</a:t>
            </a:r>
            <a:r>
              <a:rPr lang="ru-RU" sz="2200" u="sng" dirty="0">
                <a:cs typeface="Arial" panose="020B0604020202020204" pitchFamily="34" charset="0"/>
              </a:rPr>
              <a:t> </a:t>
            </a:r>
            <a:r>
              <a:rPr lang="ru-RU" sz="2200" u="sng" dirty="0" err="1">
                <a:cs typeface="Arial" panose="020B0604020202020204" pitchFamily="34" charset="0"/>
              </a:rPr>
              <a:t>об’єкта</a:t>
            </a:r>
            <a:r>
              <a:rPr lang="ru-RU" sz="2200" dirty="0">
                <a:cs typeface="Arial" panose="020B0604020202020204" pitchFamily="34" charset="0"/>
              </a:rPr>
              <a:t>, </a:t>
            </a:r>
            <a:r>
              <a:rPr lang="ru-RU" sz="2200" dirty="0" err="1">
                <a:cs typeface="Arial" panose="020B0604020202020204" pitchFamily="34" charset="0"/>
              </a:rPr>
              <a:t>може</a:t>
            </a:r>
            <a:r>
              <a:rPr lang="ru-RU" sz="2200" dirty="0">
                <a:cs typeface="Arial" panose="020B0604020202020204" pitchFamily="34" charset="0"/>
              </a:rPr>
              <a:t> повторно </a:t>
            </a:r>
            <a:r>
              <a:rPr lang="ru-RU" sz="2200" dirty="0" err="1">
                <a:cs typeface="Arial" panose="020B0604020202020204" pitchFamily="34" charset="0"/>
              </a:rPr>
              <a:t>заблокувати</a:t>
            </a:r>
            <a:r>
              <a:rPr lang="ru-RU" sz="2200" dirty="0">
                <a:cs typeface="Arial" panose="020B0604020202020204" pitchFamily="34" charset="0"/>
              </a:rPr>
              <a:t> </a:t>
            </a:r>
            <a:r>
              <a:rPr lang="ru-RU" sz="2200" dirty="0" err="1">
                <a:cs typeface="Arial" panose="020B0604020202020204" pitchFamily="34" charset="0"/>
              </a:rPr>
              <a:t>його</a:t>
            </a:r>
            <a:r>
              <a:rPr lang="en-US" sz="2200" dirty="0">
                <a:cs typeface="Arial" panose="020B0604020202020204" pitchFamily="34" charset="0"/>
              </a:rPr>
              <a:t> </a:t>
            </a:r>
            <a:r>
              <a:rPr lang="uk-UA" sz="2200" dirty="0">
                <a:cs typeface="Arial" panose="020B0604020202020204" pitchFamily="34" charset="0"/>
              </a:rPr>
              <a:t>необмежену кількість разів</a:t>
            </a:r>
            <a:r>
              <a:rPr lang="ru-RU" sz="2200" dirty="0">
                <a:cs typeface="Arial" panose="020B0604020202020204" pitchFamily="34" charset="0"/>
              </a:rPr>
              <a:t>. </a:t>
            </a:r>
            <a:r>
              <a:rPr lang="ru-RU" sz="2200" dirty="0" err="1">
                <a:cs typeface="Arial" panose="020B0604020202020204" pitchFamily="34" charset="0"/>
              </a:rPr>
              <a:t>Лічильник</a:t>
            </a:r>
            <a:r>
              <a:rPr lang="ru-RU" sz="2200" dirty="0">
                <a:cs typeface="Arial" panose="020B0604020202020204" pitchFamily="34" charset="0"/>
              </a:rPr>
              <a:t> </a:t>
            </a:r>
            <a:r>
              <a:rPr lang="ru-RU" sz="2200" dirty="0" err="1">
                <a:cs typeface="Arial" panose="020B0604020202020204" pitchFamily="34" charset="0"/>
              </a:rPr>
              <a:t>блокувань</a:t>
            </a:r>
            <a:r>
              <a:rPr lang="ru-RU" sz="2200" dirty="0">
                <a:cs typeface="Arial" panose="020B0604020202020204" pitchFamily="34" charset="0"/>
              </a:rPr>
              <a:t> </a:t>
            </a:r>
            <a:r>
              <a:rPr lang="ru-RU" sz="2200" dirty="0" err="1">
                <a:cs typeface="Arial" panose="020B0604020202020204" pitchFamily="34" charset="0"/>
              </a:rPr>
              <a:t>відслідковує</a:t>
            </a:r>
            <a:r>
              <a:rPr lang="ru-RU" sz="2200" dirty="0">
                <a:cs typeface="Arial" panose="020B0604020202020204" pitchFamily="34" charset="0"/>
              </a:rPr>
              <a:t>, </a:t>
            </a:r>
            <a:r>
              <a:rPr lang="ru-RU" sz="2200" dirty="0" err="1">
                <a:cs typeface="Arial" panose="020B0604020202020204" pitchFamily="34" charset="0"/>
              </a:rPr>
              <a:t>щоб</a:t>
            </a:r>
            <a:r>
              <a:rPr lang="ru-RU" sz="2200" dirty="0">
                <a:cs typeface="Arial" panose="020B0604020202020204" pitchFamily="34" charset="0"/>
              </a:rPr>
              <a:t> </a:t>
            </a:r>
            <a:r>
              <a:rPr lang="ru-RU" sz="2200" dirty="0" err="1">
                <a:cs typeface="Arial" panose="020B0604020202020204" pitchFamily="34" charset="0"/>
              </a:rPr>
              <a:t>кількість</a:t>
            </a:r>
            <a:r>
              <a:rPr lang="ru-RU" sz="2200" dirty="0">
                <a:cs typeface="Arial" panose="020B0604020202020204" pitchFamily="34" charset="0"/>
              </a:rPr>
              <a:t> </a:t>
            </a:r>
            <a:r>
              <a:rPr lang="ru-RU" sz="2200" dirty="0" err="1">
                <a:cs typeface="Arial" panose="020B0604020202020204" pitchFamily="34" charset="0"/>
              </a:rPr>
              <a:t>блокувань</a:t>
            </a:r>
            <a:r>
              <a:rPr lang="ru-RU" sz="2200" dirty="0">
                <a:cs typeface="Arial" panose="020B0604020202020204" pitchFamily="34" charset="0"/>
              </a:rPr>
              <a:t> </a:t>
            </a:r>
            <a:r>
              <a:rPr lang="ru-RU" sz="2200" dirty="0" err="1">
                <a:cs typeface="Arial" panose="020B0604020202020204" pitchFamily="34" charset="0"/>
              </a:rPr>
              <a:t>дорівнювала</a:t>
            </a:r>
            <a:r>
              <a:rPr lang="ru-RU" sz="2200" dirty="0">
                <a:cs typeface="Arial" panose="020B0604020202020204" pitchFamily="34" charset="0"/>
              </a:rPr>
              <a:t> </a:t>
            </a:r>
            <a:r>
              <a:rPr lang="ru-RU" sz="2200" dirty="0" err="1">
                <a:cs typeface="Arial" panose="020B0604020202020204" pitchFamily="34" charset="0"/>
              </a:rPr>
              <a:t>кількості</a:t>
            </a:r>
            <a:r>
              <a:rPr lang="ru-RU" sz="2200" dirty="0">
                <a:cs typeface="Arial" panose="020B0604020202020204" pitchFamily="34" charset="0"/>
              </a:rPr>
              <a:t> </a:t>
            </a:r>
            <a:r>
              <a:rPr lang="ru-RU" sz="2200" dirty="0" err="1">
                <a:cs typeface="Arial" panose="020B0604020202020204" pitchFamily="34" charset="0"/>
              </a:rPr>
              <a:t>розблокувань</a:t>
            </a:r>
            <a:r>
              <a:rPr lang="ru-RU" sz="2200" dirty="0">
                <a:cs typeface="Arial" panose="020B0604020202020204" pitchFamily="34" charset="0"/>
              </a:rPr>
              <a:t>.</a:t>
            </a:r>
            <a:r>
              <a:rPr lang="en-US" sz="2200" dirty="0">
                <a:cs typeface="Arial" panose="020B0604020202020204" pitchFamily="34" charset="0"/>
              </a:rPr>
              <a:t> </a:t>
            </a:r>
            <a:endParaRPr lang="ru-RU" sz="2200" dirty="0">
              <a:cs typeface="Arial" panose="020B0604020202020204" pitchFamily="34" charset="0"/>
            </a:endParaRPr>
          </a:p>
          <a:p>
            <a:r>
              <a:rPr lang="ru-RU" sz="2200" dirty="0">
                <a:cs typeface="Arial" panose="020B0604020202020204" pitchFamily="34" charset="0"/>
              </a:rPr>
              <a:t>З </a:t>
            </a:r>
            <a:r>
              <a:rPr lang="ru-RU" sz="2200" dirty="0" err="1">
                <a:cs typeface="Arial" panose="020B0604020202020204" pitchFamily="34" charset="0"/>
              </a:rPr>
              <a:t>використанням</a:t>
            </a:r>
            <a:r>
              <a:rPr lang="ru-RU" sz="2200" dirty="0">
                <a:cs typeface="Arial" panose="020B0604020202020204" pitchFamily="34" charset="0"/>
              </a:rPr>
              <a:t> </a:t>
            </a:r>
            <a:r>
              <a:rPr lang="ru-RU" sz="2200" dirty="0" err="1">
                <a:cs typeface="Arial" panose="020B0604020202020204" pitchFamily="34" charset="0"/>
              </a:rPr>
              <a:t>методів</a:t>
            </a:r>
            <a:r>
              <a:rPr lang="ru-RU" sz="2200" dirty="0">
                <a:cs typeface="Arial" panose="020B0604020202020204" pitchFamily="34" charset="0"/>
              </a:rPr>
              <a:t> </a:t>
            </a:r>
            <a:r>
              <a:rPr lang="en-US" sz="2200" dirty="0" err="1">
                <a:cs typeface="Arial" panose="020B0604020202020204" pitchFamily="34" charset="0"/>
              </a:rPr>
              <a:t>isHeldByCurrentThread</a:t>
            </a:r>
            <a:r>
              <a:rPr lang="en-US" sz="2200" dirty="0">
                <a:cs typeface="Arial" panose="020B0604020202020204" pitchFamily="34" charset="0"/>
              </a:rPr>
              <a:t>(), </a:t>
            </a:r>
            <a:r>
              <a:rPr lang="en-US" sz="2200" dirty="0" err="1">
                <a:cs typeface="Arial" panose="020B0604020202020204" pitchFamily="34" charset="0"/>
              </a:rPr>
              <a:t>getHoldCount</a:t>
            </a:r>
            <a:r>
              <a:rPr lang="en-US" sz="2200" dirty="0">
                <a:cs typeface="Arial" panose="020B0604020202020204" pitchFamily="34" charset="0"/>
              </a:rPr>
              <a:t>()</a:t>
            </a:r>
            <a:r>
              <a:rPr lang="uk-UA" sz="2200" dirty="0">
                <a:cs typeface="Arial" panose="020B0604020202020204" pitchFamily="34" charset="0"/>
              </a:rPr>
              <a:t> можна перевірити чи є даний об’єкт привласненим потоком</a:t>
            </a:r>
            <a:endParaRPr lang="en-US" sz="2200" dirty="0">
              <a:cs typeface="Arial" panose="020B0604020202020204" pitchFamily="34" charset="0"/>
            </a:endParaRPr>
          </a:p>
          <a:p>
            <a:r>
              <a:rPr lang="uk-UA" sz="2200" dirty="0">
                <a:cs typeface="Arial" panose="020B0604020202020204" pitchFamily="34" charset="0"/>
              </a:rPr>
              <a:t>Додатковий конструктор класу </a:t>
            </a:r>
            <a:r>
              <a:rPr lang="en-US" sz="2200" dirty="0" err="1">
                <a:cs typeface="Arial" panose="020B0604020202020204" pitchFamily="34" charset="0"/>
              </a:rPr>
              <a:t>ReentrantLock</a:t>
            </a:r>
            <a:r>
              <a:rPr lang="en-US" sz="2200" dirty="0">
                <a:cs typeface="Arial" panose="020B0604020202020204" pitchFamily="34" charset="0"/>
              </a:rPr>
              <a:t>(</a:t>
            </a:r>
            <a:r>
              <a:rPr lang="en-US" sz="2200" dirty="0" err="1">
                <a:cs typeface="Arial" panose="020B0604020202020204" pitchFamily="34" charset="0"/>
              </a:rPr>
              <a:t>boolean</a:t>
            </a:r>
            <a:r>
              <a:rPr lang="en-US" sz="2200" dirty="0">
                <a:cs typeface="Arial" panose="020B0604020202020204" pitchFamily="34" charset="0"/>
              </a:rPr>
              <a:t> fair) </a:t>
            </a:r>
            <a:r>
              <a:rPr lang="uk-UA" sz="2200" dirty="0">
                <a:cs typeface="Arial" panose="020B0604020202020204" pitchFamily="34" charset="0"/>
              </a:rPr>
              <a:t>містить аргумент </a:t>
            </a:r>
            <a:r>
              <a:rPr lang="en-US" sz="2200" dirty="0">
                <a:cs typeface="Arial" panose="020B0604020202020204" pitchFamily="34" charset="0"/>
              </a:rPr>
              <a:t>fair</a:t>
            </a:r>
            <a:r>
              <a:rPr lang="uk-UA" sz="2200" dirty="0">
                <a:cs typeface="Arial" panose="020B0604020202020204" pitchFamily="34" charset="0"/>
              </a:rPr>
              <a:t>. Значення </a:t>
            </a:r>
            <a:r>
              <a:rPr lang="en-US" sz="2200" dirty="0">
                <a:cs typeface="Arial" panose="020B0604020202020204" pitchFamily="34" charset="0"/>
              </a:rPr>
              <a:t>fair, </a:t>
            </a:r>
            <a:r>
              <a:rPr lang="uk-UA" sz="2200" dirty="0">
                <a:cs typeface="Arial" panose="020B0604020202020204" pitchFamily="34" charset="0"/>
              </a:rPr>
              <a:t>що дорівнює </a:t>
            </a:r>
            <a:r>
              <a:rPr lang="en-US" sz="2200" dirty="0">
                <a:cs typeface="Arial" panose="020B0604020202020204" pitchFamily="34" charset="0"/>
              </a:rPr>
              <a:t>true</a:t>
            </a:r>
            <a:r>
              <a:rPr lang="uk-UA" sz="2200" dirty="0">
                <a:cs typeface="Arial" panose="020B0604020202020204" pitchFamily="34" charset="0"/>
              </a:rPr>
              <a:t>, встановлює, що при захопленні </a:t>
            </a:r>
            <a:r>
              <a:rPr lang="uk-UA" sz="2200" dirty="0" err="1">
                <a:cs typeface="Arial" panose="020B0604020202020204" pitchFamily="34" charset="0"/>
              </a:rPr>
              <a:t>локера</a:t>
            </a:r>
            <a:r>
              <a:rPr lang="uk-UA" sz="2200" dirty="0">
                <a:cs typeface="Arial" panose="020B0604020202020204" pitchFamily="34" charset="0"/>
              </a:rPr>
              <a:t> перевага надається потоку з найбільшим часом його очікування. Така «справедливість» коштує додаткових витрат часу на планування, проте запобігає «голодуванню» потоків тобто надто довгому їх очікуванню.</a:t>
            </a:r>
            <a:endParaRPr lang="en-US" sz="2200" dirty="0">
              <a:cs typeface="Arial" panose="020B0604020202020204" pitchFamily="34" charset="0"/>
            </a:endParaRPr>
          </a:p>
          <a:p>
            <a:r>
              <a:rPr lang="uk-UA" sz="2200" dirty="0">
                <a:cs typeface="Arial" panose="020B0604020202020204" pitchFamily="34" charset="0"/>
              </a:rPr>
              <a:t>Клас містить набір методів, зручних для </a:t>
            </a:r>
            <a:r>
              <a:rPr lang="uk-UA" sz="2200" dirty="0" err="1">
                <a:cs typeface="Arial" panose="020B0604020202020204" pitchFamily="34" charset="0"/>
              </a:rPr>
              <a:t>відлагодження</a:t>
            </a:r>
            <a:r>
              <a:rPr lang="uk-UA" sz="2200" dirty="0">
                <a:cs typeface="Arial" panose="020B0604020202020204" pitchFamily="34" charset="0"/>
              </a:rPr>
              <a:t> програми: </a:t>
            </a:r>
            <a:r>
              <a:rPr lang="en-US" sz="2200" dirty="0" err="1">
                <a:cs typeface="Arial" panose="020B0604020202020204" pitchFamily="34" charset="0"/>
              </a:rPr>
              <a:t>getOwner</a:t>
            </a:r>
            <a:r>
              <a:rPr lang="en-US" sz="2200" dirty="0">
                <a:cs typeface="Arial" panose="020B0604020202020204" pitchFamily="34" charset="0"/>
              </a:rPr>
              <a:t>()</a:t>
            </a:r>
            <a:r>
              <a:rPr lang="uk-UA" sz="2200" dirty="0">
                <a:cs typeface="Arial" panose="020B0604020202020204" pitchFamily="34" charset="0"/>
              </a:rPr>
              <a:t>, </a:t>
            </a:r>
            <a:r>
              <a:rPr lang="en-US" sz="2200" dirty="0" err="1">
                <a:cs typeface="Arial" panose="020B0604020202020204" pitchFamily="34" charset="0"/>
              </a:rPr>
              <a:t>isHeldByCurrentThread</a:t>
            </a:r>
            <a:r>
              <a:rPr lang="en-US" sz="2200" dirty="0">
                <a:cs typeface="Arial" panose="020B0604020202020204" pitchFamily="34" charset="0"/>
              </a:rPr>
              <a:t>()</a:t>
            </a:r>
            <a:r>
              <a:rPr lang="uk-UA" sz="2200" dirty="0">
                <a:cs typeface="Arial" panose="020B0604020202020204" pitchFamily="34" charset="0"/>
              </a:rPr>
              <a:t>, </a:t>
            </a:r>
            <a:r>
              <a:rPr lang="en-US" sz="2200" dirty="0" err="1">
                <a:cs typeface="Arial" panose="020B0604020202020204" pitchFamily="34" charset="0"/>
              </a:rPr>
              <a:t>getHoldCount</a:t>
            </a:r>
            <a:r>
              <a:rPr lang="en-US" sz="2200" dirty="0">
                <a:cs typeface="Arial" panose="020B0604020202020204" pitchFamily="34" charset="0"/>
              </a:rPr>
              <a:t>()</a:t>
            </a:r>
            <a:r>
              <a:rPr lang="uk-UA" sz="2200" dirty="0">
                <a:cs typeface="Arial" panose="020B0604020202020204" pitchFamily="34" charset="0"/>
              </a:rPr>
              <a:t>, </a:t>
            </a:r>
            <a:r>
              <a:rPr lang="en-US" sz="2200" dirty="0" err="1">
                <a:cs typeface="Arial" panose="020B0604020202020204" pitchFamily="34" charset="0"/>
              </a:rPr>
              <a:t>getQueuedThreads</a:t>
            </a:r>
            <a:r>
              <a:rPr lang="en-US" sz="2200" dirty="0">
                <a:cs typeface="Arial" panose="020B0604020202020204" pitchFamily="34" charset="0"/>
              </a:rPr>
              <a:t>()</a:t>
            </a:r>
            <a:r>
              <a:rPr lang="uk-UA" sz="2200" dirty="0">
                <a:cs typeface="Arial" panose="020B0604020202020204" pitchFamily="34" charset="0"/>
              </a:rPr>
              <a:t>, </a:t>
            </a:r>
            <a:r>
              <a:rPr lang="en-US" sz="2200" dirty="0" err="1">
                <a:cs typeface="Arial" panose="020B0604020202020204" pitchFamily="34" charset="0"/>
              </a:rPr>
              <a:t>getWaitingThreads</a:t>
            </a:r>
            <a:r>
              <a:rPr lang="en-US" sz="2200" dirty="0">
                <a:cs typeface="Arial" panose="020B0604020202020204" pitchFamily="34" charset="0"/>
              </a:rPr>
              <a:t>(Condition condition)</a:t>
            </a:r>
            <a:r>
              <a:rPr lang="uk-UA" sz="2200" dirty="0">
                <a:cs typeface="Arial" panose="020B0604020202020204" pitchFamily="34" charset="0"/>
              </a:rPr>
              <a:t> та інші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Example:</a:t>
            </a:r>
          </a:p>
          <a:p>
            <a:pPr marL="400050" lvl="1" indent="0">
              <a:buNone/>
            </a:pPr>
            <a:r>
              <a:rPr lang="en-US" sz="2300" dirty="0">
                <a:latin typeface="Courier" pitchFamily="2" charset="0"/>
              </a:rPr>
              <a:t>private final </a:t>
            </a:r>
            <a:r>
              <a:rPr lang="en-US" sz="2300" dirty="0" err="1">
                <a:latin typeface="Courier" pitchFamily="2" charset="0"/>
              </a:rPr>
              <a:t>ReentrantLock</a:t>
            </a:r>
            <a:r>
              <a:rPr lang="en-US" sz="2300" dirty="0">
                <a:latin typeface="Courier" pitchFamily="2" charset="0"/>
              </a:rPr>
              <a:t> lock = new </a:t>
            </a:r>
            <a:r>
              <a:rPr lang="en-US" sz="2300" dirty="0" err="1">
                <a:latin typeface="Courier" pitchFamily="2" charset="0"/>
              </a:rPr>
              <a:t>ReentrantLock</a:t>
            </a:r>
            <a:r>
              <a:rPr lang="en-US" sz="2300" dirty="0">
                <a:latin typeface="Courier" pitchFamily="2" charset="0"/>
              </a:rPr>
              <a:t>();</a:t>
            </a:r>
            <a:endParaRPr lang="uk-UA" sz="2300" dirty="0"/>
          </a:p>
          <a:p>
            <a:pPr marL="400050" lvl="1" indent="0">
              <a:buNone/>
            </a:pPr>
            <a:r>
              <a:rPr lang="en-US" sz="2300" dirty="0">
                <a:latin typeface="Courier" pitchFamily="2" charset="0"/>
              </a:rPr>
              <a:t>public void method() { </a:t>
            </a:r>
            <a:endParaRPr lang="uk-UA" sz="2300" dirty="0"/>
          </a:p>
          <a:p>
            <a:pPr marL="800100" lvl="2" indent="0">
              <a:buNone/>
            </a:pPr>
            <a:r>
              <a:rPr lang="en-US" sz="2300" dirty="0" err="1">
                <a:latin typeface="Courier" pitchFamily="2" charset="0"/>
              </a:rPr>
              <a:t>lock.lock</a:t>
            </a:r>
            <a:r>
              <a:rPr lang="en-US" sz="2300" dirty="0">
                <a:latin typeface="Courier" pitchFamily="2" charset="0"/>
              </a:rPr>
              <a:t>(); </a:t>
            </a:r>
            <a:endParaRPr lang="uk-UA" sz="2300" dirty="0"/>
          </a:p>
          <a:p>
            <a:pPr marL="800100" lvl="2" indent="0">
              <a:buNone/>
            </a:pPr>
            <a:r>
              <a:rPr lang="en-US" sz="2300" dirty="0">
                <a:latin typeface="Courier" pitchFamily="2" charset="0"/>
              </a:rPr>
              <a:t>try { </a:t>
            </a:r>
            <a:r>
              <a:rPr lang="uk-UA" sz="2300" dirty="0">
                <a:latin typeface="Courier" pitchFamily="2" charset="0"/>
              </a:rPr>
              <a:t>// </a:t>
            </a:r>
            <a:r>
              <a:rPr lang="uk-UA" sz="2300" dirty="0">
                <a:cs typeface="Arial" panose="020B0604020202020204" pitchFamily="34" charset="0"/>
              </a:rPr>
              <a:t>завжди використовуйте бло</a:t>
            </a:r>
            <a:r>
              <a:rPr lang="uk-UA" sz="2300" dirty="0">
                <a:latin typeface="Courier" pitchFamily="2" charset="0"/>
              </a:rPr>
              <a:t>к </a:t>
            </a:r>
            <a:r>
              <a:rPr lang="en-US" sz="2300" dirty="0">
                <a:latin typeface="Courier" pitchFamily="2" charset="0"/>
              </a:rPr>
              <a:t>try</a:t>
            </a:r>
            <a:r>
              <a:rPr lang="uk-UA" sz="2300" dirty="0">
                <a:latin typeface="Courier" pitchFamily="2" charset="0"/>
              </a:rPr>
              <a:t>/</a:t>
            </a:r>
            <a:r>
              <a:rPr lang="en-US" sz="2300" dirty="0">
                <a:latin typeface="Courier" pitchFamily="2" charset="0"/>
              </a:rPr>
              <a:t>finally</a:t>
            </a:r>
            <a:r>
              <a:rPr lang="uk-UA" sz="2300" dirty="0">
                <a:latin typeface="Courier" pitchFamily="2" charset="0"/>
              </a:rPr>
              <a:t>, </a:t>
            </a:r>
            <a:r>
              <a:rPr lang="uk-UA" sz="2300" dirty="0"/>
              <a:t>щоб гарантувати виклик </a:t>
            </a:r>
            <a:r>
              <a:rPr lang="en-US" sz="2300" dirty="0">
                <a:latin typeface="Courier" pitchFamily="2" charset="0"/>
              </a:rPr>
              <a:t>unlock()</a:t>
            </a:r>
            <a:endParaRPr lang="uk-UA" sz="2300" dirty="0"/>
          </a:p>
          <a:p>
            <a:pPr marL="800100" lvl="2" indent="0">
              <a:buNone/>
            </a:pPr>
            <a:r>
              <a:rPr lang="uk-UA" sz="2300" dirty="0"/>
              <a:t>	</a:t>
            </a:r>
            <a:r>
              <a:rPr lang="en-US" sz="2300" dirty="0">
                <a:latin typeface="Courier" pitchFamily="2" charset="0"/>
              </a:rPr>
              <a:t>// ... method body </a:t>
            </a:r>
            <a:endParaRPr lang="uk-UA" sz="2300" dirty="0"/>
          </a:p>
          <a:p>
            <a:pPr marL="800100" lvl="2" indent="0">
              <a:buNone/>
            </a:pPr>
            <a:r>
              <a:rPr lang="en-US" sz="2300" dirty="0">
                <a:latin typeface="Courier" pitchFamily="2" charset="0"/>
              </a:rPr>
              <a:t>} </a:t>
            </a:r>
            <a:endParaRPr lang="uk-UA" sz="2300" dirty="0"/>
          </a:p>
          <a:p>
            <a:pPr marL="800100" lvl="2" indent="0">
              <a:buNone/>
            </a:pPr>
            <a:r>
              <a:rPr lang="en-US" sz="2300" dirty="0">
                <a:latin typeface="Courier" pitchFamily="2" charset="0"/>
              </a:rPr>
              <a:t>finally { </a:t>
            </a:r>
            <a:endParaRPr lang="uk-UA" sz="2300" dirty="0"/>
          </a:p>
          <a:p>
            <a:pPr marL="800100" lvl="2" indent="0">
              <a:buNone/>
            </a:pPr>
            <a:r>
              <a:rPr lang="uk-UA" sz="2300" dirty="0"/>
              <a:t>	</a:t>
            </a:r>
            <a:r>
              <a:rPr lang="en-US" sz="2300" dirty="0" err="1">
                <a:latin typeface="Courier" pitchFamily="2" charset="0"/>
              </a:rPr>
              <a:t>lock.unlock</a:t>
            </a:r>
            <a:r>
              <a:rPr lang="en-US" sz="2300" dirty="0">
                <a:latin typeface="Courier" pitchFamily="2" charset="0"/>
              </a:rPr>
              <a:t>() </a:t>
            </a:r>
            <a:endParaRPr lang="uk-UA" sz="2300" dirty="0"/>
          </a:p>
          <a:p>
            <a:pPr marL="800100" lvl="2" indent="0">
              <a:buNone/>
            </a:pPr>
            <a:r>
              <a:rPr lang="en-US" sz="2300" dirty="0">
                <a:latin typeface="Courier" pitchFamily="2" charset="0"/>
              </a:rPr>
              <a:t>} </a:t>
            </a:r>
            <a:endParaRPr lang="uk-UA" sz="2300" dirty="0"/>
          </a:p>
          <a:p>
            <a:pPr marL="400050" lvl="1" indent="0">
              <a:buNone/>
            </a:pPr>
            <a:r>
              <a:rPr lang="en-US" sz="2300" dirty="0">
                <a:latin typeface="Courier" pitchFamily="2" charset="0"/>
              </a:rPr>
              <a:t>} </a:t>
            </a:r>
            <a:endParaRPr lang="uk-UA" sz="2300" dirty="0"/>
          </a:p>
          <a:p>
            <a:pPr marL="0" indent="0">
              <a:buNone/>
            </a:pP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0025575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FEACE-99F4-2744-AB73-AC47DFF29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Задача </a:t>
            </a:r>
            <a:r>
              <a:rPr lang="en-US" dirty="0"/>
              <a:t>Producer-Consumer</a:t>
            </a:r>
            <a:endParaRPr lang="en-U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31D2C-2BB6-FC4F-8E29-57541CBB78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uk-UA" dirty="0"/>
              <a:t>Усі потоки виконують дії зі спільним буфером, який має обмежену кількість місць для зберігання об’єктів, що надійшли від виробників і очікують споживання</a:t>
            </a:r>
          </a:p>
          <a:p>
            <a:r>
              <a:rPr lang="uk-UA" dirty="0"/>
              <a:t>Потоки-виробники виконують операцію </a:t>
            </a:r>
            <a:r>
              <a:rPr lang="en-US" dirty="0"/>
              <a:t>put() </a:t>
            </a:r>
            <a:r>
              <a:rPr lang="uk-UA" dirty="0"/>
              <a:t>об’єкта у буфер за умови, що є вільне місце </a:t>
            </a:r>
            <a:endParaRPr lang="en-US" dirty="0"/>
          </a:p>
          <a:p>
            <a:r>
              <a:rPr lang="uk-UA" dirty="0"/>
              <a:t>Потоки-споживачі виконують операцію </a:t>
            </a:r>
            <a:r>
              <a:rPr lang="en-US" dirty="0"/>
              <a:t>take()</a:t>
            </a:r>
            <a:r>
              <a:rPr lang="uk-UA" dirty="0"/>
              <a:t> об’єкта у буфер за умови, що буфер непорожній</a:t>
            </a:r>
            <a:endParaRPr lang="en-UA" dirty="0"/>
          </a:p>
        </p:txBody>
      </p:sp>
    </p:spTree>
    <p:extLst>
      <p:ext uri="{BB962C8B-B14F-4D97-AF65-F5344CB8AC3E}">
        <p14:creationId xmlns:p14="http://schemas.microsoft.com/office/powerpoint/2010/main" val="37217556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19256" cy="693431"/>
          </a:xfrm>
        </p:spPr>
        <p:txBody>
          <a:bodyPr>
            <a:normAutofit fontScale="90000"/>
          </a:bodyPr>
          <a:lstStyle/>
          <a:p>
            <a:r>
              <a:rPr lang="uk-UA" dirty="0"/>
              <a:t>Інтерфейс </a:t>
            </a:r>
            <a:r>
              <a:rPr lang="en-US" dirty="0"/>
              <a:t>Condition</a:t>
            </a:r>
            <a:endParaRPr lang="uk-UA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7503" y="1772816"/>
            <a:ext cx="4464497" cy="4752528"/>
          </a:xfrm>
          <a:ln w="127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numCol="1">
            <a:noAutofit/>
          </a:bodyPr>
          <a:lstStyle/>
          <a:p>
            <a:pPr marL="0" indent="0">
              <a:buNone/>
            </a:pPr>
            <a:r>
              <a:rPr lang="en-US" sz="1100" dirty="0">
                <a:latin typeface="Courier" pitchFamily="2" charset="0"/>
              </a:rPr>
              <a:t>class </a:t>
            </a:r>
            <a:r>
              <a:rPr lang="en-US" sz="1100" dirty="0" err="1">
                <a:latin typeface="Courier" pitchFamily="2" charset="0"/>
              </a:rPr>
              <a:t>BoundedBuffer</a:t>
            </a:r>
            <a:r>
              <a:rPr lang="en-US" sz="1100" dirty="0">
                <a:latin typeface="Courier" pitchFamily="2" charset="0"/>
              </a:rPr>
              <a:t> {</a:t>
            </a:r>
          </a:p>
          <a:p>
            <a:pPr marL="0" indent="0">
              <a:buNone/>
            </a:pPr>
            <a:r>
              <a:rPr lang="en-US" sz="1100" dirty="0">
                <a:latin typeface="Courier" pitchFamily="2" charset="0"/>
              </a:rPr>
              <a:t>   final Lock </a:t>
            </a:r>
            <a:r>
              <a:rPr lang="en-US" sz="11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Courier" pitchFamily="2" charset="0"/>
              </a:rPr>
              <a:t>lock</a:t>
            </a:r>
            <a:r>
              <a:rPr lang="en-US" sz="1100" dirty="0">
                <a:latin typeface="Courier" pitchFamily="2" charset="0"/>
              </a:rPr>
              <a:t> = new </a:t>
            </a:r>
            <a:r>
              <a:rPr lang="en-US" sz="1100" dirty="0" err="1">
                <a:latin typeface="Courier" pitchFamily="2" charset="0"/>
              </a:rPr>
              <a:t>ReentrantLock</a:t>
            </a:r>
            <a:r>
              <a:rPr lang="en-US" sz="1100" dirty="0">
                <a:latin typeface="Courier" pitchFamily="2" charset="0"/>
              </a:rPr>
              <a:t>();</a:t>
            </a:r>
          </a:p>
          <a:p>
            <a:pPr marL="0" indent="0">
              <a:buNone/>
            </a:pPr>
            <a:r>
              <a:rPr lang="en-US" sz="1100" dirty="0">
                <a:latin typeface="Courier" pitchFamily="2" charset="0"/>
              </a:rPr>
              <a:t>   final Condition </a:t>
            </a:r>
            <a:r>
              <a:rPr lang="en-US" sz="1100" b="1" dirty="0" err="1">
                <a:latin typeface="Courier" pitchFamily="2" charset="0"/>
              </a:rPr>
              <a:t>notFull</a:t>
            </a:r>
            <a:r>
              <a:rPr lang="en-US" sz="1100" dirty="0">
                <a:latin typeface="Courier" pitchFamily="2" charset="0"/>
              </a:rPr>
              <a:t>  = </a:t>
            </a:r>
            <a:r>
              <a:rPr lang="en-US" sz="11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Courier" pitchFamily="2" charset="0"/>
              </a:rPr>
              <a:t>lock</a:t>
            </a:r>
            <a:r>
              <a:rPr lang="en-US" sz="1100" dirty="0" err="1">
                <a:latin typeface="Courier" pitchFamily="2" charset="0"/>
              </a:rPr>
              <a:t>.newCondition</a:t>
            </a:r>
            <a:r>
              <a:rPr lang="en-US" sz="1100" dirty="0">
                <a:latin typeface="Courier" pitchFamily="2" charset="0"/>
              </a:rPr>
              <a:t>(); </a:t>
            </a:r>
          </a:p>
          <a:p>
            <a:pPr marL="0" indent="0">
              <a:buNone/>
            </a:pPr>
            <a:r>
              <a:rPr lang="en-US" sz="1100" dirty="0">
                <a:latin typeface="Courier" pitchFamily="2" charset="0"/>
              </a:rPr>
              <a:t>   final Condition </a:t>
            </a:r>
            <a:r>
              <a:rPr lang="en-US" sz="1100" b="1" dirty="0" err="1">
                <a:latin typeface="Courier" pitchFamily="2" charset="0"/>
              </a:rPr>
              <a:t>notEmpty</a:t>
            </a:r>
            <a:r>
              <a:rPr lang="en-US" sz="1100" dirty="0">
                <a:latin typeface="Courier" pitchFamily="2" charset="0"/>
              </a:rPr>
              <a:t> = </a:t>
            </a:r>
            <a:r>
              <a:rPr lang="en-US" sz="11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Courier" pitchFamily="2" charset="0"/>
              </a:rPr>
              <a:t>lock</a:t>
            </a:r>
            <a:r>
              <a:rPr lang="en-US" sz="1100" dirty="0" err="1">
                <a:latin typeface="Courier" pitchFamily="2" charset="0"/>
              </a:rPr>
              <a:t>.newCondition</a:t>
            </a:r>
            <a:r>
              <a:rPr lang="en-US" sz="1100" dirty="0">
                <a:latin typeface="Courier" pitchFamily="2" charset="0"/>
              </a:rPr>
              <a:t>(); </a:t>
            </a:r>
          </a:p>
          <a:p>
            <a:pPr marL="0" indent="0">
              <a:buNone/>
            </a:pPr>
            <a:endParaRPr lang="en-US" sz="1100" dirty="0">
              <a:latin typeface="Courier" pitchFamily="2" charset="0"/>
            </a:endParaRPr>
          </a:p>
          <a:p>
            <a:pPr marL="0" indent="0">
              <a:buNone/>
            </a:pPr>
            <a:r>
              <a:rPr lang="en-US" sz="1100" dirty="0">
                <a:latin typeface="Courier" pitchFamily="2" charset="0"/>
              </a:rPr>
              <a:t>   final Object[] items = new Object[100];</a:t>
            </a:r>
          </a:p>
          <a:p>
            <a:pPr marL="0" indent="0">
              <a:buNone/>
            </a:pPr>
            <a:r>
              <a:rPr lang="en-US" sz="1100" dirty="0">
                <a:latin typeface="Courier" pitchFamily="2" charset="0"/>
              </a:rPr>
              <a:t>   </a:t>
            </a:r>
            <a:r>
              <a:rPr lang="en-US" sz="1100" dirty="0" err="1">
                <a:latin typeface="Courier" pitchFamily="2" charset="0"/>
              </a:rPr>
              <a:t>int</a:t>
            </a:r>
            <a:r>
              <a:rPr lang="en-US" sz="1100" dirty="0">
                <a:latin typeface="Courier" pitchFamily="2" charset="0"/>
              </a:rPr>
              <a:t> </a:t>
            </a:r>
            <a:r>
              <a:rPr lang="en-US" sz="1100" dirty="0" err="1">
                <a:latin typeface="Courier" pitchFamily="2" charset="0"/>
              </a:rPr>
              <a:t>putptr</a:t>
            </a:r>
            <a:r>
              <a:rPr lang="en-US" sz="1100" dirty="0">
                <a:latin typeface="Courier" pitchFamily="2" charset="0"/>
              </a:rPr>
              <a:t>, </a:t>
            </a:r>
            <a:r>
              <a:rPr lang="en-US" sz="1100" dirty="0" err="1">
                <a:latin typeface="Courier" pitchFamily="2" charset="0"/>
              </a:rPr>
              <a:t>takeptr</a:t>
            </a:r>
            <a:r>
              <a:rPr lang="en-US" sz="1100" dirty="0">
                <a:latin typeface="Courier" pitchFamily="2" charset="0"/>
              </a:rPr>
              <a:t>, count;</a:t>
            </a:r>
          </a:p>
          <a:p>
            <a:pPr marL="0" indent="0">
              <a:buNone/>
            </a:pPr>
            <a:endParaRPr lang="en-US" sz="1100" dirty="0">
              <a:latin typeface="Courier" pitchFamily="2" charset="0"/>
            </a:endParaRPr>
          </a:p>
          <a:p>
            <a:pPr marL="0" indent="0">
              <a:buNone/>
            </a:pPr>
            <a:r>
              <a:rPr lang="en-US" sz="1100" dirty="0">
                <a:latin typeface="Courier" pitchFamily="2" charset="0"/>
              </a:rPr>
              <a:t>   public void put(Object x) </a:t>
            </a:r>
            <a:endParaRPr lang="uk-UA" sz="1100" dirty="0">
              <a:latin typeface="Courier" pitchFamily="2" charset="0"/>
            </a:endParaRPr>
          </a:p>
          <a:p>
            <a:pPr marL="0" indent="0">
              <a:buNone/>
            </a:pPr>
            <a:r>
              <a:rPr lang="uk-UA" sz="1100" dirty="0">
                <a:latin typeface="Courier" pitchFamily="2" charset="0"/>
              </a:rPr>
              <a:t>                      </a:t>
            </a:r>
            <a:r>
              <a:rPr lang="en-US" sz="1100" dirty="0">
                <a:latin typeface="Courier" pitchFamily="2" charset="0"/>
              </a:rPr>
              <a:t>throws </a:t>
            </a:r>
            <a:r>
              <a:rPr lang="en-US" sz="1100" dirty="0" err="1">
                <a:latin typeface="Courier" pitchFamily="2" charset="0"/>
              </a:rPr>
              <a:t>InterruptedException</a:t>
            </a:r>
            <a:r>
              <a:rPr lang="en-US" sz="1100" dirty="0">
                <a:latin typeface="Courier" pitchFamily="2" charset="0"/>
              </a:rPr>
              <a:t>{</a:t>
            </a:r>
          </a:p>
          <a:p>
            <a:pPr marL="0" indent="0">
              <a:buNone/>
            </a:pPr>
            <a:r>
              <a:rPr lang="en-US" sz="1100" dirty="0">
                <a:latin typeface="Courier" pitchFamily="2" charset="0"/>
              </a:rPr>
              <a:t>     </a:t>
            </a:r>
            <a:r>
              <a:rPr lang="en-US" sz="11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Courier" pitchFamily="2" charset="0"/>
              </a:rPr>
              <a:t>lock</a:t>
            </a:r>
            <a:r>
              <a:rPr lang="en-US" sz="1100" dirty="0" err="1">
                <a:latin typeface="Courier" pitchFamily="2" charset="0"/>
              </a:rPr>
              <a:t>.lock</a:t>
            </a:r>
            <a:r>
              <a:rPr lang="en-US" sz="1100" dirty="0">
                <a:latin typeface="Courier" pitchFamily="2" charset="0"/>
              </a:rPr>
              <a:t>();</a:t>
            </a:r>
          </a:p>
          <a:p>
            <a:pPr marL="0" indent="0">
              <a:buNone/>
            </a:pPr>
            <a:r>
              <a:rPr lang="en-US" sz="1100" dirty="0">
                <a:latin typeface="Courier" pitchFamily="2" charset="0"/>
              </a:rPr>
              <a:t>     try {</a:t>
            </a:r>
          </a:p>
          <a:p>
            <a:pPr marL="400050" lvl="1" indent="0">
              <a:buNone/>
            </a:pPr>
            <a:r>
              <a:rPr lang="en-US" sz="1100" dirty="0">
                <a:latin typeface="Courier" pitchFamily="2" charset="0"/>
              </a:rPr>
              <a:t>       while (count == </a:t>
            </a:r>
            <a:r>
              <a:rPr lang="en-US" sz="1100" dirty="0" err="1">
                <a:latin typeface="Courier" pitchFamily="2" charset="0"/>
              </a:rPr>
              <a:t>items.length</a:t>
            </a:r>
            <a:r>
              <a:rPr lang="en-US" sz="1100" dirty="0">
                <a:latin typeface="Courier" pitchFamily="2" charset="0"/>
              </a:rPr>
              <a:t>)</a:t>
            </a:r>
          </a:p>
          <a:p>
            <a:pPr marL="400050" lvl="1" indent="0">
              <a:buNone/>
            </a:pPr>
            <a:r>
              <a:rPr lang="en-US" sz="1100" dirty="0">
                <a:latin typeface="Courier" pitchFamily="2" charset="0"/>
              </a:rPr>
              <a:t>        </a:t>
            </a:r>
            <a:r>
              <a:rPr lang="ru-RU" sz="1100" dirty="0"/>
              <a:t>   </a:t>
            </a:r>
            <a:r>
              <a:rPr lang="en-US" sz="1100" dirty="0">
                <a:latin typeface="Courier" pitchFamily="2" charset="0"/>
              </a:rPr>
              <a:t> </a:t>
            </a:r>
            <a:r>
              <a:rPr lang="en-US" sz="1100" b="1" dirty="0" err="1">
                <a:latin typeface="Courier" pitchFamily="2" charset="0"/>
              </a:rPr>
              <a:t>notFull</a:t>
            </a:r>
            <a:r>
              <a:rPr lang="en-US" sz="1100" dirty="0" err="1">
                <a:latin typeface="Courier" pitchFamily="2" charset="0"/>
              </a:rPr>
              <a:t>.await</a:t>
            </a:r>
            <a:r>
              <a:rPr lang="en-US" sz="1100" dirty="0">
                <a:latin typeface="Courier" pitchFamily="2" charset="0"/>
              </a:rPr>
              <a:t>();</a:t>
            </a:r>
          </a:p>
          <a:p>
            <a:pPr marL="400050" lvl="1" indent="0">
              <a:buNone/>
            </a:pPr>
            <a:r>
              <a:rPr lang="en-US" sz="1100" dirty="0">
                <a:latin typeface="Courier" pitchFamily="2" charset="0"/>
              </a:rPr>
              <a:t>       items[</a:t>
            </a:r>
            <a:r>
              <a:rPr lang="en-US" sz="1100" dirty="0" err="1">
                <a:latin typeface="Courier" pitchFamily="2" charset="0"/>
              </a:rPr>
              <a:t>putptr</a:t>
            </a:r>
            <a:r>
              <a:rPr lang="en-US" sz="1100" dirty="0">
                <a:latin typeface="Courier" pitchFamily="2" charset="0"/>
              </a:rPr>
              <a:t>] = x;</a:t>
            </a:r>
          </a:p>
          <a:p>
            <a:pPr marL="400050" lvl="1" indent="0">
              <a:buNone/>
            </a:pPr>
            <a:r>
              <a:rPr lang="en-US" sz="1100" dirty="0">
                <a:latin typeface="Courier" pitchFamily="2" charset="0"/>
              </a:rPr>
              <a:t>       if (++</a:t>
            </a:r>
            <a:r>
              <a:rPr lang="en-US" sz="1100" dirty="0" err="1">
                <a:latin typeface="Courier" pitchFamily="2" charset="0"/>
              </a:rPr>
              <a:t>putptr</a:t>
            </a:r>
            <a:r>
              <a:rPr lang="en-US" sz="1100" dirty="0">
                <a:latin typeface="Courier" pitchFamily="2" charset="0"/>
              </a:rPr>
              <a:t> == </a:t>
            </a:r>
            <a:r>
              <a:rPr lang="en-US" sz="1100" dirty="0" err="1">
                <a:latin typeface="Courier" pitchFamily="2" charset="0"/>
              </a:rPr>
              <a:t>items.length</a:t>
            </a:r>
            <a:r>
              <a:rPr lang="en-US" sz="1100" dirty="0">
                <a:latin typeface="Courier" pitchFamily="2" charset="0"/>
              </a:rPr>
              <a:t>) </a:t>
            </a:r>
          </a:p>
          <a:p>
            <a:pPr marL="400050" lvl="1" indent="0">
              <a:buNone/>
            </a:pPr>
            <a:r>
              <a:rPr lang="en-US" sz="1100" dirty="0">
                <a:latin typeface="Courier" pitchFamily="2" charset="0"/>
              </a:rPr>
              <a:t>	    </a:t>
            </a:r>
            <a:r>
              <a:rPr lang="en-US" sz="1100" dirty="0" err="1">
                <a:latin typeface="Courier" pitchFamily="2" charset="0"/>
              </a:rPr>
              <a:t>putptr</a:t>
            </a:r>
            <a:r>
              <a:rPr lang="en-US" sz="1100" dirty="0">
                <a:latin typeface="Courier" pitchFamily="2" charset="0"/>
              </a:rPr>
              <a:t> = 0;</a:t>
            </a:r>
          </a:p>
          <a:p>
            <a:pPr marL="400050" lvl="1" indent="0">
              <a:buNone/>
            </a:pPr>
            <a:r>
              <a:rPr lang="en-US" sz="1100" dirty="0">
                <a:latin typeface="Courier" pitchFamily="2" charset="0"/>
              </a:rPr>
              <a:t>       ++count;</a:t>
            </a:r>
          </a:p>
          <a:p>
            <a:pPr marL="400050" lvl="1" indent="0">
              <a:buNone/>
            </a:pPr>
            <a:r>
              <a:rPr lang="en-US" sz="1100" dirty="0">
                <a:latin typeface="Courier" pitchFamily="2" charset="0"/>
              </a:rPr>
              <a:t>       </a:t>
            </a:r>
            <a:r>
              <a:rPr lang="en-US" sz="1100" b="1" dirty="0" err="1">
                <a:latin typeface="Courier" pitchFamily="2" charset="0"/>
              </a:rPr>
              <a:t>notEmpty</a:t>
            </a:r>
            <a:r>
              <a:rPr lang="en-US" sz="1100" dirty="0" err="1">
                <a:latin typeface="Courier" pitchFamily="2" charset="0"/>
              </a:rPr>
              <a:t>.signal</a:t>
            </a:r>
            <a:r>
              <a:rPr lang="en-US" sz="1100" dirty="0">
                <a:latin typeface="Courier" pitchFamily="2" charset="0"/>
              </a:rPr>
              <a:t>();</a:t>
            </a:r>
          </a:p>
          <a:p>
            <a:pPr marL="0" indent="0">
              <a:buNone/>
            </a:pPr>
            <a:r>
              <a:rPr lang="en-US" sz="1100" dirty="0">
                <a:latin typeface="Courier" pitchFamily="2" charset="0"/>
              </a:rPr>
              <a:t>     } finally {</a:t>
            </a:r>
          </a:p>
          <a:p>
            <a:pPr marL="400050" lvl="1" indent="0">
              <a:buNone/>
            </a:pPr>
            <a:r>
              <a:rPr lang="en-US" sz="1100" dirty="0">
                <a:latin typeface="Courier" pitchFamily="2" charset="0"/>
              </a:rPr>
              <a:t>       </a:t>
            </a:r>
            <a:r>
              <a:rPr lang="en-US" sz="11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Courier" pitchFamily="2" charset="0"/>
              </a:rPr>
              <a:t>lock</a:t>
            </a:r>
            <a:r>
              <a:rPr lang="en-US" sz="1100" dirty="0" err="1">
                <a:latin typeface="Courier" pitchFamily="2" charset="0"/>
              </a:rPr>
              <a:t>.unlock</a:t>
            </a:r>
            <a:r>
              <a:rPr lang="en-US" sz="1100" dirty="0">
                <a:latin typeface="Courier" pitchFamily="2" charset="0"/>
              </a:rPr>
              <a:t>();</a:t>
            </a:r>
          </a:p>
          <a:p>
            <a:pPr marL="0" indent="0">
              <a:buNone/>
            </a:pPr>
            <a:r>
              <a:rPr lang="en-US" sz="1100" dirty="0">
                <a:latin typeface="Courier" pitchFamily="2" charset="0"/>
              </a:rPr>
              <a:t>     }</a:t>
            </a:r>
          </a:p>
          <a:p>
            <a:pPr marL="0" indent="0">
              <a:buNone/>
            </a:pPr>
            <a:r>
              <a:rPr lang="en-US" sz="1100" dirty="0">
                <a:latin typeface="Courier" pitchFamily="2" charset="0"/>
              </a:rPr>
              <a:t>   }</a:t>
            </a:r>
            <a:endParaRPr lang="uk-UA" sz="1100" dirty="0"/>
          </a:p>
        </p:txBody>
      </p:sp>
      <p:sp>
        <p:nvSpPr>
          <p:cNvPr id="4" name="Объект 2"/>
          <p:cNvSpPr txBox="1">
            <a:spLocks/>
          </p:cNvSpPr>
          <p:nvPr/>
        </p:nvSpPr>
        <p:spPr>
          <a:xfrm>
            <a:off x="107503" y="968069"/>
            <a:ext cx="8805229" cy="6336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800" dirty="0"/>
              <a:t>При</a:t>
            </a:r>
            <a:r>
              <a:rPr lang="uk-UA" sz="1800" dirty="0"/>
              <a:t>значений для створення множинних наборів очікування для одного об</a:t>
            </a:r>
            <a:r>
              <a:rPr lang="en-US" sz="1800" dirty="0"/>
              <a:t>’</a:t>
            </a:r>
            <a:r>
              <a:rPr lang="uk-UA" sz="1800" dirty="0" err="1"/>
              <a:t>єкта</a:t>
            </a:r>
            <a:r>
              <a:rPr lang="en-US" sz="1800" dirty="0"/>
              <a:t>.</a:t>
            </a:r>
            <a:endParaRPr lang="ru-RU" sz="1800" dirty="0"/>
          </a:p>
          <a:p>
            <a:pPr marL="0" indent="0">
              <a:buNone/>
            </a:pPr>
            <a:r>
              <a:rPr lang="ru-RU" sz="1800" dirty="0" err="1"/>
              <a:t>Основні</a:t>
            </a:r>
            <a:r>
              <a:rPr lang="ru-RU" sz="1800" dirty="0"/>
              <a:t> </a:t>
            </a:r>
            <a:r>
              <a:rPr lang="ru-RU" sz="1800" dirty="0" err="1"/>
              <a:t>методи</a:t>
            </a:r>
            <a:r>
              <a:rPr lang="ru-RU" sz="1800" dirty="0"/>
              <a:t> </a:t>
            </a:r>
            <a:r>
              <a:rPr lang="en-US" sz="1800" dirty="0">
                <a:latin typeface="Courier" pitchFamily="2" charset="0"/>
              </a:rPr>
              <a:t>await(), signal(), </a:t>
            </a:r>
            <a:r>
              <a:rPr lang="en-US" sz="1800" dirty="0" err="1">
                <a:latin typeface="Courier" pitchFamily="2" charset="0"/>
              </a:rPr>
              <a:t>signalAll</a:t>
            </a:r>
            <a:r>
              <a:rPr lang="en-US" sz="1800" dirty="0">
                <a:latin typeface="Courier" pitchFamily="2" charset="0"/>
              </a:rPr>
              <a:t>()</a:t>
            </a:r>
            <a:endParaRPr lang="uk-UA" sz="1800" dirty="0"/>
          </a:p>
        </p:txBody>
      </p:sp>
      <p:sp>
        <p:nvSpPr>
          <p:cNvPr id="5" name="Объект 2"/>
          <p:cNvSpPr txBox="1">
            <a:spLocks/>
          </p:cNvSpPr>
          <p:nvPr/>
        </p:nvSpPr>
        <p:spPr>
          <a:xfrm>
            <a:off x="4788024" y="3013894"/>
            <a:ext cx="4124708" cy="3515733"/>
          </a:xfrm>
          <a:prstGeom prst="rect">
            <a:avLst/>
          </a:prstGeom>
          <a:ln w="127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numCol="1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sz="1100" dirty="0">
                <a:latin typeface="Courier" pitchFamily="2" charset="0"/>
              </a:rPr>
              <a:t>public Object take() </a:t>
            </a:r>
            <a:endParaRPr lang="uk-UA" sz="1100" dirty="0">
              <a:latin typeface="Courier" pitchFamily="2" charset="0"/>
            </a:endParaRPr>
          </a:p>
          <a:p>
            <a:pPr marL="0" indent="0">
              <a:buFont typeface="Arial" pitchFamily="34" charset="0"/>
              <a:buNone/>
            </a:pPr>
            <a:r>
              <a:rPr lang="uk-UA" sz="1100" dirty="0">
                <a:latin typeface="Courier" pitchFamily="2" charset="0"/>
              </a:rPr>
              <a:t>              </a:t>
            </a:r>
            <a:r>
              <a:rPr lang="en-US" sz="1100" dirty="0">
                <a:latin typeface="Courier" pitchFamily="2" charset="0"/>
              </a:rPr>
              <a:t>throws </a:t>
            </a:r>
            <a:r>
              <a:rPr lang="en-US" sz="1100" dirty="0" err="1">
                <a:latin typeface="Courier" pitchFamily="2" charset="0"/>
              </a:rPr>
              <a:t>InterruptedException</a:t>
            </a:r>
            <a:r>
              <a:rPr lang="en-US" sz="1100" dirty="0">
                <a:latin typeface="Courier" pitchFamily="2" charset="0"/>
              </a:rPr>
              <a:t> {</a:t>
            </a:r>
          </a:p>
          <a:p>
            <a:pPr marL="0" indent="0">
              <a:buFont typeface="Arial" pitchFamily="34" charset="0"/>
              <a:buNone/>
            </a:pPr>
            <a:r>
              <a:rPr lang="en-US" sz="1100" dirty="0">
                <a:latin typeface="Courier" pitchFamily="2" charset="0"/>
              </a:rPr>
              <a:t>     </a:t>
            </a:r>
            <a:r>
              <a:rPr lang="en-US" sz="11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Courier" pitchFamily="2" charset="0"/>
              </a:rPr>
              <a:t>lock</a:t>
            </a:r>
            <a:r>
              <a:rPr lang="en-US" sz="1100" dirty="0" err="1">
                <a:latin typeface="Courier" pitchFamily="2" charset="0"/>
              </a:rPr>
              <a:t>.lock</a:t>
            </a:r>
            <a:r>
              <a:rPr lang="en-US" sz="1100" dirty="0">
                <a:latin typeface="Courier" pitchFamily="2" charset="0"/>
              </a:rPr>
              <a:t>();</a:t>
            </a:r>
          </a:p>
          <a:p>
            <a:pPr marL="0" indent="0">
              <a:buFont typeface="Arial" pitchFamily="34" charset="0"/>
              <a:buNone/>
            </a:pPr>
            <a:r>
              <a:rPr lang="en-US" sz="1100" dirty="0">
                <a:latin typeface="Courier" pitchFamily="2" charset="0"/>
              </a:rPr>
              <a:t>     try {</a:t>
            </a:r>
          </a:p>
          <a:p>
            <a:pPr marL="400050" lvl="1" indent="0">
              <a:buFont typeface="Arial" pitchFamily="34" charset="0"/>
              <a:buNone/>
            </a:pPr>
            <a:r>
              <a:rPr lang="en-US" sz="1100" dirty="0">
                <a:latin typeface="Courier" pitchFamily="2" charset="0"/>
              </a:rPr>
              <a:t>   while (count == 0)</a:t>
            </a:r>
          </a:p>
          <a:p>
            <a:pPr marL="400050" lvl="1" indent="0">
              <a:buFont typeface="Arial" pitchFamily="34" charset="0"/>
              <a:buNone/>
            </a:pPr>
            <a:r>
              <a:rPr lang="en-US" sz="1100" dirty="0">
                <a:latin typeface="Courier" pitchFamily="2" charset="0"/>
              </a:rPr>
              <a:t>         </a:t>
            </a:r>
            <a:r>
              <a:rPr lang="en-US" sz="1100" b="1" dirty="0" err="1">
                <a:latin typeface="Courier" pitchFamily="2" charset="0"/>
              </a:rPr>
              <a:t>notEmpty</a:t>
            </a:r>
            <a:r>
              <a:rPr lang="en-US" sz="1100" dirty="0" err="1">
                <a:latin typeface="Courier" pitchFamily="2" charset="0"/>
              </a:rPr>
              <a:t>.await</a:t>
            </a:r>
            <a:r>
              <a:rPr lang="en-US" sz="1100" dirty="0">
                <a:latin typeface="Courier" pitchFamily="2" charset="0"/>
              </a:rPr>
              <a:t>();</a:t>
            </a:r>
          </a:p>
          <a:p>
            <a:pPr marL="400050" lvl="1" indent="0">
              <a:buFont typeface="Arial" pitchFamily="34" charset="0"/>
              <a:buNone/>
            </a:pPr>
            <a:r>
              <a:rPr lang="en-US" sz="1100" dirty="0">
                <a:latin typeface="Courier" pitchFamily="2" charset="0"/>
              </a:rPr>
              <a:t>    Object x = items[</a:t>
            </a:r>
            <a:r>
              <a:rPr lang="en-US" sz="1100" dirty="0" err="1">
                <a:latin typeface="Courier" pitchFamily="2" charset="0"/>
              </a:rPr>
              <a:t>takeptr</a:t>
            </a:r>
            <a:r>
              <a:rPr lang="en-US" sz="1100" dirty="0">
                <a:latin typeface="Courier" pitchFamily="2" charset="0"/>
              </a:rPr>
              <a:t>];</a:t>
            </a:r>
          </a:p>
          <a:p>
            <a:pPr marL="400050" lvl="1" indent="0">
              <a:buFont typeface="Arial" pitchFamily="34" charset="0"/>
              <a:buNone/>
            </a:pPr>
            <a:r>
              <a:rPr lang="en-US" sz="1100" dirty="0">
                <a:latin typeface="Courier" pitchFamily="2" charset="0"/>
              </a:rPr>
              <a:t>    if (++</a:t>
            </a:r>
            <a:r>
              <a:rPr lang="en-US" sz="1100" dirty="0" err="1">
                <a:latin typeface="Courier" pitchFamily="2" charset="0"/>
              </a:rPr>
              <a:t>takeptr</a:t>
            </a:r>
            <a:r>
              <a:rPr lang="en-US" sz="1100" dirty="0">
                <a:latin typeface="Courier" pitchFamily="2" charset="0"/>
              </a:rPr>
              <a:t> == </a:t>
            </a:r>
            <a:r>
              <a:rPr lang="en-US" sz="1100" dirty="0" err="1">
                <a:latin typeface="Courier" pitchFamily="2" charset="0"/>
              </a:rPr>
              <a:t>items.length</a:t>
            </a:r>
            <a:r>
              <a:rPr lang="en-US" sz="1100" dirty="0">
                <a:latin typeface="Courier" pitchFamily="2" charset="0"/>
              </a:rPr>
              <a:t>)</a:t>
            </a:r>
          </a:p>
          <a:p>
            <a:pPr marL="400050" lvl="1" indent="0">
              <a:buFont typeface="Arial" pitchFamily="34" charset="0"/>
              <a:buNone/>
            </a:pPr>
            <a:r>
              <a:rPr lang="en-US" sz="1100" dirty="0">
                <a:latin typeface="Courier" pitchFamily="2" charset="0"/>
              </a:rPr>
              <a:t>       </a:t>
            </a:r>
            <a:r>
              <a:rPr lang="uk-UA" sz="1100" dirty="0">
                <a:latin typeface="Courier" pitchFamily="2" charset="0"/>
              </a:rPr>
              <a:t>  </a:t>
            </a:r>
            <a:r>
              <a:rPr lang="en-US" sz="1100" dirty="0" err="1">
                <a:latin typeface="Courier" pitchFamily="2" charset="0"/>
              </a:rPr>
              <a:t>takeptr</a:t>
            </a:r>
            <a:r>
              <a:rPr lang="en-US" sz="1100" dirty="0">
                <a:latin typeface="Courier" pitchFamily="2" charset="0"/>
              </a:rPr>
              <a:t> = 0;</a:t>
            </a:r>
          </a:p>
          <a:p>
            <a:pPr marL="400050" lvl="1" indent="0">
              <a:buFont typeface="Arial" pitchFamily="34" charset="0"/>
              <a:buNone/>
            </a:pPr>
            <a:r>
              <a:rPr lang="en-US" sz="1100" dirty="0">
                <a:latin typeface="Courier" pitchFamily="2" charset="0"/>
              </a:rPr>
              <a:t>    --count;</a:t>
            </a:r>
          </a:p>
          <a:p>
            <a:pPr marL="400050" lvl="1" indent="0">
              <a:buFont typeface="Arial" pitchFamily="34" charset="0"/>
              <a:buNone/>
            </a:pPr>
            <a:r>
              <a:rPr lang="en-US" sz="1100" dirty="0">
                <a:latin typeface="Courier" pitchFamily="2" charset="0"/>
              </a:rPr>
              <a:t>    </a:t>
            </a:r>
            <a:r>
              <a:rPr lang="en-US" sz="1100" b="1" dirty="0" err="1">
                <a:latin typeface="Courier" pitchFamily="2" charset="0"/>
              </a:rPr>
              <a:t>notFull</a:t>
            </a:r>
            <a:r>
              <a:rPr lang="en-US" sz="1100" dirty="0" err="1">
                <a:latin typeface="Courier" pitchFamily="2" charset="0"/>
              </a:rPr>
              <a:t>.signal</a:t>
            </a:r>
            <a:r>
              <a:rPr lang="en-US" sz="1100" dirty="0">
                <a:latin typeface="Courier" pitchFamily="2" charset="0"/>
              </a:rPr>
              <a:t>();</a:t>
            </a:r>
          </a:p>
          <a:p>
            <a:pPr marL="400050" lvl="1" indent="0">
              <a:buFont typeface="Arial" pitchFamily="34" charset="0"/>
              <a:buNone/>
            </a:pPr>
            <a:r>
              <a:rPr lang="en-US" sz="1100" dirty="0">
                <a:latin typeface="Courier" pitchFamily="2" charset="0"/>
              </a:rPr>
              <a:t>    return x;</a:t>
            </a:r>
          </a:p>
          <a:p>
            <a:pPr marL="0" indent="0">
              <a:buFont typeface="Arial" pitchFamily="34" charset="0"/>
              <a:buNone/>
            </a:pPr>
            <a:r>
              <a:rPr lang="en-US" sz="1100" dirty="0">
                <a:latin typeface="Courier" pitchFamily="2" charset="0"/>
              </a:rPr>
              <a:t>     } finally {</a:t>
            </a:r>
          </a:p>
          <a:p>
            <a:pPr marL="400050" lvl="1" indent="0">
              <a:buFont typeface="Arial" pitchFamily="34" charset="0"/>
              <a:buNone/>
            </a:pPr>
            <a:r>
              <a:rPr lang="en-US" sz="1100" dirty="0">
                <a:latin typeface="Courier" pitchFamily="2" charset="0"/>
              </a:rPr>
              <a:t>    </a:t>
            </a:r>
            <a:r>
              <a:rPr lang="en-US" sz="11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Courier" pitchFamily="2" charset="0"/>
              </a:rPr>
              <a:t>lock</a:t>
            </a:r>
            <a:r>
              <a:rPr lang="en-US" sz="1100" dirty="0" err="1">
                <a:latin typeface="Courier" pitchFamily="2" charset="0"/>
              </a:rPr>
              <a:t>.unlock</a:t>
            </a:r>
            <a:r>
              <a:rPr lang="en-US" sz="1100" dirty="0">
                <a:latin typeface="Courier" pitchFamily="2" charset="0"/>
              </a:rPr>
              <a:t>();</a:t>
            </a:r>
          </a:p>
          <a:p>
            <a:pPr marL="0" indent="0">
              <a:buFont typeface="Arial" pitchFamily="34" charset="0"/>
              <a:buNone/>
            </a:pPr>
            <a:r>
              <a:rPr lang="en-US" sz="1100" dirty="0">
                <a:latin typeface="Courier" pitchFamily="2" charset="0"/>
              </a:rPr>
              <a:t>     }</a:t>
            </a:r>
          </a:p>
          <a:p>
            <a:pPr marL="0" indent="0">
              <a:buFont typeface="Arial" pitchFamily="34" charset="0"/>
              <a:buNone/>
            </a:pPr>
            <a:r>
              <a:rPr lang="en-US" sz="1100" dirty="0">
                <a:latin typeface="Courier" pitchFamily="2" charset="0"/>
              </a:rPr>
              <a:t>   }</a:t>
            </a:r>
          </a:p>
          <a:p>
            <a:pPr marL="0" indent="0">
              <a:buFont typeface="Arial" pitchFamily="34" charset="0"/>
              <a:buNone/>
            </a:pPr>
            <a:r>
              <a:rPr lang="en-US" sz="1100" dirty="0">
                <a:latin typeface="Courier" pitchFamily="2" charset="0"/>
              </a:rPr>
              <a:t> }</a:t>
            </a:r>
            <a:endParaRPr lang="uk-UA" sz="110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DD86C8F-B88B-234C-B564-32C63165F8D8}"/>
              </a:ext>
            </a:extLst>
          </p:cNvPr>
          <p:cNvGrpSpPr/>
          <p:nvPr/>
        </p:nvGrpSpPr>
        <p:grpSpPr>
          <a:xfrm>
            <a:off x="5508104" y="1651151"/>
            <a:ext cx="3346240" cy="1281364"/>
            <a:chOff x="5508104" y="1651151"/>
            <a:chExt cx="3346240" cy="1281364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ED832EB-4895-1141-865A-F164404BB093}"/>
                </a:ext>
              </a:extLst>
            </p:cNvPr>
            <p:cNvSpPr/>
            <p:nvPr/>
          </p:nvSpPr>
          <p:spPr>
            <a:xfrm>
              <a:off x="5508104" y="2209036"/>
              <a:ext cx="216024" cy="211852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A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1CB7050-4E04-4F4E-9C12-C30BFA36BEDF}"/>
                </a:ext>
              </a:extLst>
            </p:cNvPr>
            <p:cNvSpPr/>
            <p:nvPr/>
          </p:nvSpPr>
          <p:spPr>
            <a:xfrm>
              <a:off x="5724128" y="2207148"/>
              <a:ext cx="216024" cy="21374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A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BC730F0-2ABE-0245-BDB1-A09A003FC91A}"/>
                </a:ext>
              </a:extLst>
            </p:cNvPr>
            <p:cNvSpPr/>
            <p:nvPr/>
          </p:nvSpPr>
          <p:spPr>
            <a:xfrm>
              <a:off x="5940152" y="2207148"/>
              <a:ext cx="216024" cy="21374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A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41A8BE-4279-8240-A3DF-DA23B33A4909}"/>
                </a:ext>
              </a:extLst>
            </p:cNvPr>
            <p:cNvSpPr/>
            <p:nvPr/>
          </p:nvSpPr>
          <p:spPr>
            <a:xfrm>
              <a:off x="6156176" y="2207148"/>
              <a:ext cx="216024" cy="213740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A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FADF7CD-68FA-3742-B19D-6FE954BDD7A2}"/>
                </a:ext>
              </a:extLst>
            </p:cNvPr>
            <p:cNvSpPr/>
            <p:nvPr/>
          </p:nvSpPr>
          <p:spPr>
            <a:xfrm>
              <a:off x="6372200" y="2207148"/>
              <a:ext cx="216024" cy="213740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A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75F41B3-B0B5-C741-A42E-A6EAFC3A55FA}"/>
                </a:ext>
              </a:extLst>
            </p:cNvPr>
            <p:cNvSpPr/>
            <p:nvPr/>
          </p:nvSpPr>
          <p:spPr>
            <a:xfrm>
              <a:off x="6156176" y="1668024"/>
              <a:ext cx="216024" cy="21374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A"/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2D91D086-C105-3C46-889F-61E292A30A0E}"/>
                </a:ext>
              </a:extLst>
            </p:cNvPr>
            <p:cNvCxnSpPr>
              <a:stCxn id="17" idx="2"/>
              <a:endCxn id="15" idx="0"/>
            </p:cNvCxnSpPr>
            <p:nvPr/>
          </p:nvCxnSpPr>
          <p:spPr>
            <a:xfrm>
              <a:off x="6264188" y="1881764"/>
              <a:ext cx="0" cy="32538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BC8E2D5-7AC6-F246-BC21-484BBC333368}"/>
                </a:ext>
              </a:extLst>
            </p:cNvPr>
            <p:cNvSpPr txBox="1"/>
            <p:nvPr/>
          </p:nvSpPr>
          <p:spPr>
            <a:xfrm>
              <a:off x="6252270" y="1881764"/>
              <a:ext cx="59122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put()</a:t>
              </a:r>
              <a:endParaRPr lang="en-UA" sz="1200" dirty="0"/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4DBF77B2-6EC0-794D-8AD1-486C24925C97}"/>
                </a:ext>
              </a:extLst>
            </p:cNvPr>
            <p:cNvCxnSpPr>
              <a:cxnSpLocks/>
              <a:stCxn id="7" idx="2"/>
            </p:cNvCxnSpPr>
            <p:nvPr/>
          </p:nvCxnSpPr>
          <p:spPr>
            <a:xfrm>
              <a:off x="5616116" y="2420888"/>
              <a:ext cx="0" cy="29788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7E10459-DD4F-B44A-BC57-FF73D7276246}"/>
                </a:ext>
              </a:extLst>
            </p:cNvPr>
            <p:cNvSpPr txBox="1"/>
            <p:nvPr/>
          </p:nvSpPr>
          <p:spPr>
            <a:xfrm>
              <a:off x="5593382" y="2412940"/>
              <a:ext cx="59122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take()</a:t>
              </a:r>
              <a:endParaRPr lang="en-UA" sz="1200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EACC5707-4645-554D-ADCD-5584FF19006C}"/>
                </a:ext>
              </a:extLst>
            </p:cNvPr>
            <p:cNvSpPr/>
            <p:nvPr/>
          </p:nvSpPr>
          <p:spPr>
            <a:xfrm>
              <a:off x="5508104" y="2718775"/>
              <a:ext cx="216024" cy="21374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A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DE7253FC-7B43-DE42-B2B6-9AE9CB40D30A}"/>
                </a:ext>
              </a:extLst>
            </p:cNvPr>
            <p:cNvSpPr/>
            <p:nvPr/>
          </p:nvSpPr>
          <p:spPr>
            <a:xfrm>
              <a:off x="7308304" y="2193410"/>
              <a:ext cx="216024" cy="211852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A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0F32DE60-B1C8-9140-882B-EF0CBAB56DEB}"/>
                </a:ext>
              </a:extLst>
            </p:cNvPr>
            <p:cNvSpPr/>
            <p:nvPr/>
          </p:nvSpPr>
          <p:spPr>
            <a:xfrm>
              <a:off x="7524328" y="2191522"/>
              <a:ext cx="216024" cy="213740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A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73DC9AE8-9C3C-EB40-B155-4FC95F6B5B62}"/>
                </a:ext>
              </a:extLst>
            </p:cNvPr>
            <p:cNvSpPr/>
            <p:nvPr/>
          </p:nvSpPr>
          <p:spPr>
            <a:xfrm>
              <a:off x="7740352" y="2191522"/>
              <a:ext cx="216024" cy="21374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A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F4281617-B0BA-9747-914D-3EA4C82F4077}"/>
                </a:ext>
              </a:extLst>
            </p:cNvPr>
            <p:cNvSpPr/>
            <p:nvPr/>
          </p:nvSpPr>
          <p:spPr>
            <a:xfrm>
              <a:off x="7956376" y="2191522"/>
              <a:ext cx="216024" cy="21374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A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78E6AEA1-EF71-9A4C-9C2F-4BB803088EA7}"/>
                </a:ext>
              </a:extLst>
            </p:cNvPr>
            <p:cNvSpPr/>
            <p:nvPr/>
          </p:nvSpPr>
          <p:spPr>
            <a:xfrm>
              <a:off x="8172400" y="2191522"/>
              <a:ext cx="216024" cy="213740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A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E4D869A1-F441-844F-8B52-FCAE4456AC66}"/>
                </a:ext>
              </a:extLst>
            </p:cNvPr>
            <p:cNvSpPr/>
            <p:nvPr/>
          </p:nvSpPr>
          <p:spPr>
            <a:xfrm>
              <a:off x="7285570" y="1651151"/>
              <a:ext cx="216024" cy="21374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A"/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C3F10121-406E-5047-920D-CC3F902C7D1F}"/>
                </a:ext>
              </a:extLst>
            </p:cNvPr>
            <p:cNvCxnSpPr>
              <a:cxnSpLocks/>
              <a:stCxn id="35" idx="2"/>
            </p:cNvCxnSpPr>
            <p:nvPr/>
          </p:nvCxnSpPr>
          <p:spPr>
            <a:xfrm>
              <a:off x="7393582" y="1864891"/>
              <a:ext cx="0" cy="32538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819D6819-CFF3-344F-9105-2B6C7075AF42}"/>
                </a:ext>
              </a:extLst>
            </p:cNvPr>
            <p:cNvSpPr txBox="1"/>
            <p:nvPr/>
          </p:nvSpPr>
          <p:spPr>
            <a:xfrm>
              <a:off x="7381664" y="1864891"/>
              <a:ext cx="59122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put()</a:t>
              </a:r>
              <a:endParaRPr lang="en-UA" sz="1200" dirty="0"/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84A4E0C2-D601-964D-B775-BD5026842BDA}"/>
                </a:ext>
              </a:extLst>
            </p:cNvPr>
            <p:cNvCxnSpPr>
              <a:cxnSpLocks/>
            </p:cNvCxnSpPr>
            <p:nvPr/>
          </p:nvCxnSpPr>
          <p:spPr>
            <a:xfrm>
              <a:off x="8285858" y="2406266"/>
              <a:ext cx="0" cy="29788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6D836F61-59AF-6B4B-9E3D-F53406B68B67}"/>
                </a:ext>
              </a:extLst>
            </p:cNvPr>
            <p:cNvSpPr txBox="1"/>
            <p:nvPr/>
          </p:nvSpPr>
          <p:spPr>
            <a:xfrm>
              <a:off x="8263124" y="2398318"/>
              <a:ext cx="59122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take()</a:t>
              </a:r>
              <a:endParaRPr lang="en-UA" sz="1200" dirty="0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7210783C-B8A2-DB4A-925F-F27697E82B12}"/>
                </a:ext>
              </a:extLst>
            </p:cNvPr>
            <p:cNvSpPr/>
            <p:nvPr/>
          </p:nvSpPr>
          <p:spPr>
            <a:xfrm>
              <a:off x="8177846" y="2704153"/>
              <a:ext cx="216024" cy="21374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A"/>
            </a:p>
          </p:txBody>
        </p:sp>
      </p:grpSp>
    </p:spTree>
    <p:extLst>
      <p:ext uri="{BB962C8B-B14F-4D97-AF65-F5344CB8AC3E}">
        <p14:creationId xmlns:p14="http://schemas.microsoft.com/office/powerpoint/2010/main" val="11323407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BD06F-2AA0-134D-9560-ACBD6C949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dirty="0"/>
              <a:t>Схематичне представлення взаємодії потоків</a:t>
            </a:r>
            <a:endParaRPr lang="en-U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3A1D83-C664-5244-A5DD-64150B29E5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2280" y="1417638"/>
            <a:ext cx="5480000" cy="4924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4524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Concurrent Collections</a:t>
            </a:r>
            <a:endParaRPr lang="uk-UA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!</a:t>
            </a:r>
            <a:r>
              <a:rPr lang="uk-UA" dirty="0"/>
              <a:t>Надають можливість уникнути проблеми </a:t>
            </a:r>
            <a:r>
              <a:rPr lang="en-US" dirty="0"/>
              <a:t>Memory Consistency Errors </a:t>
            </a:r>
          </a:p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BlockingQueue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ConcurrentMap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uk-UA" dirty="0"/>
              <a:t>та інші</a:t>
            </a:r>
            <a:endParaRPr lang="en-US" dirty="0"/>
          </a:p>
          <a:p>
            <a:r>
              <a:rPr lang="uk-UA" dirty="0"/>
              <a:t>Наприклад, використання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BlockingQueue</a:t>
            </a:r>
            <a:r>
              <a:rPr lang="uk-UA" dirty="0"/>
              <a:t> в наведеному вище прикладі дозволяє відмовитись від синхронізації методів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take()</a:t>
            </a:r>
            <a:r>
              <a:rPr lang="en-US" dirty="0"/>
              <a:t>,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put()</a:t>
            </a:r>
            <a:r>
              <a:rPr lang="uk-UA" dirty="0"/>
              <a:t>.</a:t>
            </a:r>
            <a:r>
              <a:rPr lang="en-US" dirty="0"/>
              <a:t> 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6476523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07504" y="179882"/>
            <a:ext cx="3816424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public class Producer implements Runnable {</a:t>
            </a:r>
          </a:p>
          <a:p>
            <a:r>
              <a:rPr lang="en-US" sz="1400" dirty="0"/>
              <a:t>    private </a:t>
            </a:r>
            <a:r>
              <a:rPr lang="en-US" sz="1400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BlockingQueue</a:t>
            </a:r>
            <a:r>
              <a:rPr lang="en-US" sz="1400" dirty="0"/>
              <a:t>&lt;String&gt; drop;</a:t>
            </a:r>
          </a:p>
          <a:p>
            <a:endParaRPr lang="en-US" sz="1400" dirty="0"/>
          </a:p>
          <a:p>
            <a:r>
              <a:rPr lang="en-US" sz="1400" dirty="0"/>
              <a:t>    public Producer</a:t>
            </a:r>
            <a:r>
              <a:rPr lang="en-US" sz="1400" b="1" dirty="0"/>
              <a:t>(</a:t>
            </a:r>
            <a:r>
              <a:rPr lang="en-US" sz="1400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BlockingQueue</a:t>
            </a:r>
            <a:r>
              <a:rPr lang="en-US" sz="1400" dirty="0"/>
              <a:t>&lt;String&gt; drop) {</a:t>
            </a:r>
          </a:p>
          <a:p>
            <a:r>
              <a:rPr lang="en-US" sz="1400" dirty="0"/>
              <a:t>        </a:t>
            </a:r>
            <a:r>
              <a:rPr lang="en-US" sz="1400" dirty="0" err="1"/>
              <a:t>this.drop</a:t>
            </a:r>
            <a:r>
              <a:rPr lang="en-US" sz="1400" dirty="0"/>
              <a:t> = drop;</a:t>
            </a:r>
          </a:p>
          <a:p>
            <a:r>
              <a:rPr lang="en-US" sz="1400" dirty="0"/>
              <a:t>    }</a:t>
            </a:r>
          </a:p>
          <a:p>
            <a:endParaRPr lang="en-US" sz="1400" dirty="0"/>
          </a:p>
          <a:p>
            <a:r>
              <a:rPr lang="en-US" sz="1400" dirty="0"/>
              <a:t>    public void run() {</a:t>
            </a:r>
          </a:p>
          <a:p>
            <a:r>
              <a:rPr lang="en-US" sz="1400" dirty="0"/>
              <a:t>        String </a:t>
            </a:r>
            <a:r>
              <a:rPr lang="en-US" sz="1400" dirty="0" err="1"/>
              <a:t>importantInfo</a:t>
            </a:r>
            <a:r>
              <a:rPr lang="en-US" sz="1400" dirty="0"/>
              <a:t>[] = {</a:t>
            </a:r>
          </a:p>
          <a:p>
            <a:r>
              <a:rPr lang="en-US" sz="1400" dirty="0"/>
              <a:t>            "Mares eat oats",</a:t>
            </a:r>
          </a:p>
          <a:p>
            <a:r>
              <a:rPr lang="en-US" sz="1400" dirty="0"/>
              <a:t>            "Does eat oats",</a:t>
            </a:r>
          </a:p>
          <a:p>
            <a:r>
              <a:rPr lang="en-US" sz="1400" dirty="0"/>
              <a:t>            "Little lambs eat ivy",</a:t>
            </a:r>
          </a:p>
          <a:p>
            <a:r>
              <a:rPr lang="en-US" sz="1400" dirty="0"/>
              <a:t>            "A kid will eat ivy too"</a:t>
            </a:r>
          </a:p>
          <a:p>
            <a:r>
              <a:rPr lang="en-US" sz="1400" dirty="0"/>
              <a:t>        };</a:t>
            </a:r>
          </a:p>
          <a:p>
            <a:r>
              <a:rPr lang="en-US" sz="1400" dirty="0"/>
              <a:t>        Random </a:t>
            </a:r>
            <a:r>
              <a:rPr lang="en-US" sz="1400" dirty="0" err="1"/>
              <a:t>random</a:t>
            </a:r>
            <a:r>
              <a:rPr lang="en-US" sz="1400" dirty="0"/>
              <a:t> = new Random();</a:t>
            </a:r>
          </a:p>
          <a:p>
            <a:endParaRPr lang="en-US" sz="1400" dirty="0"/>
          </a:p>
          <a:p>
            <a:r>
              <a:rPr lang="en-US" sz="1400" dirty="0"/>
              <a:t>        try {</a:t>
            </a:r>
          </a:p>
          <a:p>
            <a:r>
              <a:rPr lang="en-US" sz="1400" dirty="0"/>
              <a:t>            for (</a:t>
            </a:r>
            <a:r>
              <a:rPr lang="en-US" sz="1400" dirty="0" err="1"/>
              <a:t>int</a:t>
            </a:r>
            <a:r>
              <a:rPr lang="en-US" sz="1400" dirty="0"/>
              <a:t> i = 0;</a:t>
            </a:r>
          </a:p>
          <a:p>
            <a:r>
              <a:rPr lang="en-US" sz="1400" dirty="0"/>
              <a:t>                 i &lt; </a:t>
            </a:r>
            <a:r>
              <a:rPr lang="en-US" sz="1400" dirty="0" err="1"/>
              <a:t>importantInfo.length</a:t>
            </a:r>
            <a:r>
              <a:rPr lang="en-US" sz="1400" dirty="0"/>
              <a:t>;</a:t>
            </a:r>
          </a:p>
          <a:p>
            <a:r>
              <a:rPr lang="en-US" sz="1400" dirty="0"/>
              <a:t>                 i++) {</a:t>
            </a:r>
          </a:p>
          <a:p>
            <a:r>
              <a:rPr lang="en-US" sz="1400" dirty="0"/>
              <a:t>                </a:t>
            </a:r>
            <a:r>
              <a:rPr lang="en-US" sz="1400" dirty="0" err="1"/>
              <a:t>drop.put</a:t>
            </a:r>
            <a:r>
              <a:rPr lang="en-US" sz="1400" dirty="0"/>
              <a:t>(</a:t>
            </a:r>
            <a:r>
              <a:rPr lang="en-US" sz="1400" dirty="0" err="1"/>
              <a:t>importantInfo</a:t>
            </a:r>
            <a:r>
              <a:rPr lang="en-US" sz="1400" dirty="0"/>
              <a:t>[i]);</a:t>
            </a:r>
          </a:p>
          <a:p>
            <a:r>
              <a:rPr lang="en-US" sz="1400" dirty="0"/>
              <a:t>                </a:t>
            </a:r>
            <a:r>
              <a:rPr lang="en-US" sz="1400" dirty="0" err="1"/>
              <a:t>Thread.sleep</a:t>
            </a:r>
            <a:r>
              <a:rPr lang="en-US" sz="1400" dirty="0"/>
              <a:t>(</a:t>
            </a:r>
            <a:r>
              <a:rPr lang="en-US" sz="1400" dirty="0" err="1"/>
              <a:t>random.nextInt</a:t>
            </a:r>
            <a:r>
              <a:rPr lang="en-US" sz="1400" dirty="0"/>
              <a:t>(5000));</a:t>
            </a:r>
          </a:p>
          <a:p>
            <a:r>
              <a:rPr lang="en-US" sz="1400" dirty="0"/>
              <a:t>            }</a:t>
            </a:r>
          </a:p>
          <a:p>
            <a:r>
              <a:rPr lang="en-US" sz="1400" dirty="0"/>
              <a:t>            </a:t>
            </a:r>
            <a:r>
              <a:rPr lang="en-US" sz="1400" dirty="0" err="1"/>
              <a:t>drop.put</a:t>
            </a:r>
            <a:r>
              <a:rPr lang="en-US" sz="1400" dirty="0"/>
              <a:t>("DONE");</a:t>
            </a:r>
          </a:p>
          <a:p>
            <a:r>
              <a:rPr lang="en-US" sz="1400" dirty="0"/>
              <a:t>        } catch (</a:t>
            </a:r>
            <a:r>
              <a:rPr lang="en-US" sz="1400" dirty="0" err="1"/>
              <a:t>InterruptedException</a:t>
            </a:r>
            <a:r>
              <a:rPr lang="en-US" sz="1400" dirty="0"/>
              <a:t> e) {}</a:t>
            </a:r>
          </a:p>
          <a:p>
            <a:r>
              <a:rPr lang="en-US" sz="1400" dirty="0"/>
              <a:t>    }</a:t>
            </a:r>
          </a:p>
          <a:p>
            <a:r>
              <a:rPr lang="en-US" sz="1400" dirty="0"/>
              <a:t>}</a:t>
            </a:r>
            <a:endParaRPr lang="uk-UA" sz="14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4067944" y="188640"/>
            <a:ext cx="4940588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public class Consumer implements Runnable {</a:t>
            </a:r>
          </a:p>
          <a:p>
            <a:r>
              <a:rPr lang="en-US" sz="1400" dirty="0"/>
              <a:t>    private </a:t>
            </a:r>
            <a:r>
              <a:rPr lang="en-US" sz="1400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BlockingQueue</a:t>
            </a:r>
            <a:r>
              <a:rPr lang="en-US" sz="1400" dirty="0"/>
              <a:t>&lt;String&gt; drop;</a:t>
            </a:r>
          </a:p>
          <a:p>
            <a:endParaRPr lang="en-US" sz="1400" dirty="0"/>
          </a:p>
          <a:p>
            <a:r>
              <a:rPr lang="en-US" sz="1400" dirty="0"/>
              <a:t>    public Consumer(</a:t>
            </a:r>
            <a:r>
              <a:rPr lang="en-US" sz="1400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BlockingQueue</a:t>
            </a:r>
            <a:r>
              <a:rPr lang="en-US" sz="1400" dirty="0"/>
              <a:t>&lt;String&gt; drop) {</a:t>
            </a:r>
          </a:p>
          <a:p>
            <a:r>
              <a:rPr lang="en-US" sz="1400" dirty="0"/>
              <a:t>        </a:t>
            </a:r>
            <a:r>
              <a:rPr lang="en-US" sz="1400" dirty="0" err="1"/>
              <a:t>this.drop</a:t>
            </a:r>
            <a:r>
              <a:rPr lang="en-US" sz="1400" dirty="0"/>
              <a:t> = drop;</a:t>
            </a:r>
          </a:p>
          <a:p>
            <a:r>
              <a:rPr lang="en-US" sz="1400" dirty="0"/>
              <a:t>    }</a:t>
            </a:r>
          </a:p>
          <a:p>
            <a:endParaRPr lang="en-US" sz="1400" dirty="0"/>
          </a:p>
          <a:p>
            <a:r>
              <a:rPr lang="en-US" sz="1400" dirty="0"/>
              <a:t>    public void run() {</a:t>
            </a:r>
          </a:p>
          <a:p>
            <a:r>
              <a:rPr lang="en-US" sz="1400" dirty="0"/>
              <a:t>        Random </a:t>
            </a:r>
            <a:r>
              <a:rPr lang="en-US" sz="1400" dirty="0" err="1"/>
              <a:t>random</a:t>
            </a:r>
            <a:r>
              <a:rPr lang="en-US" sz="1400" dirty="0"/>
              <a:t> = new Random();</a:t>
            </a:r>
          </a:p>
          <a:p>
            <a:r>
              <a:rPr lang="en-US" sz="1400" dirty="0"/>
              <a:t>        try {</a:t>
            </a:r>
          </a:p>
          <a:p>
            <a:r>
              <a:rPr lang="en-US" sz="1400" dirty="0"/>
              <a:t>            for (String message = </a:t>
            </a:r>
            <a:r>
              <a:rPr lang="en-US" sz="1400" dirty="0" err="1"/>
              <a:t>drop.take</a:t>
            </a:r>
            <a:r>
              <a:rPr lang="en-US" sz="1400" dirty="0"/>
              <a:t>();</a:t>
            </a:r>
          </a:p>
          <a:p>
            <a:r>
              <a:rPr lang="en-US" sz="1400" dirty="0"/>
              <a:t>                 </a:t>
            </a:r>
            <a:r>
              <a:rPr lang="uk-UA" sz="1400" dirty="0"/>
              <a:t>	                        </a:t>
            </a:r>
            <a:r>
              <a:rPr lang="en-US" sz="1400" dirty="0"/>
              <a:t>! </a:t>
            </a:r>
            <a:r>
              <a:rPr lang="en-US" sz="1400" dirty="0" err="1"/>
              <a:t>message.equals</a:t>
            </a:r>
            <a:r>
              <a:rPr lang="en-US" sz="1400" dirty="0"/>
              <a:t>("DONE");</a:t>
            </a:r>
          </a:p>
          <a:p>
            <a:r>
              <a:rPr lang="en-US" sz="1400" dirty="0"/>
              <a:t>                 </a:t>
            </a:r>
            <a:r>
              <a:rPr lang="uk-UA" sz="1400" dirty="0"/>
              <a:t>		                      </a:t>
            </a:r>
            <a:r>
              <a:rPr lang="en-US" sz="1400" dirty="0"/>
              <a:t>message = </a:t>
            </a:r>
            <a:r>
              <a:rPr lang="en-US" sz="1400" dirty="0" err="1"/>
              <a:t>drop.take</a:t>
            </a:r>
            <a:r>
              <a:rPr lang="en-US" sz="1400" dirty="0"/>
              <a:t>()) {</a:t>
            </a:r>
          </a:p>
          <a:p>
            <a:r>
              <a:rPr lang="en-US" sz="1400" dirty="0"/>
              <a:t>                </a:t>
            </a:r>
            <a:r>
              <a:rPr lang="uk-UA" sz="1400" dirty="0"/>
              <a:t>	</a:t>
            </a:r>
            <a:r>
              <a:rPr lang="en-US" sz="1400" dirty="0" err="1"/>
              <a:t>System.out.format</a:t>
            </a:r>
            <a:r>
              <a:rPr lang="en-US" sz="1400" dirty="0"/>
              <a:t>("MESSAGE RECEIVED: %</a:t>
            </a:r>
            <a:r>
              <a:rPr lang="en-US" sz="1400" dirty="0" err="1"/>
              <a:t>s%n</a:t>
            </a:r>
            <a:r>
              <a:rPr lang="en-US" sz="1400" dirty="0"/>
              <a:t>", </a:t>
            </a:r>
            <a:r>
              <a:rPr lang="uk-UA" sz="1400" dirty="0"/>
              <a:t>					       </a:t>
            </a:r>
            <a:r>
              <a:rPr lang="en-US" sz="1400" dirty="0"/>
              <a:t>message);</a:t>
            </a:r>
          </a:p>
          <a:p>
            <a:r>
              <a:rPr lang="en-US" sz="1400" dirty="0"/>
              <a:t>                       </a:t>
            </a:r>
            <a:r>
              <a:rPr lang="uk-UA" sz="1400" dirty="0"/>
              <a:t>	</a:t>
            </a:r>
            <a:r>
              <a:rPr lang="en-US" sz="1400" dirty="0" err="1"/>
              <a:t>Thread.sleep</a:t>
            </a:r>
            <a:r>
              <a:rPr lang="en-US" sz="1400" dirty="0"/>
              <a:t>(</a:t>
            </a:r>
            <a:r>
              <a:rPr lang="en-US" sz="1400" dirty="0" err="1"/>
              <a:t>random.nextInt</a:t>
            </a:r>
            <a:r>
              <a:rPr lang="en-US" sz="1400" dirty="0"/>
              <a:t>(5000));</a:t>
            </a:r>
          </a:p>
          <a:p>
            <a:r>
              <a:rPr lang="en-US" sz="1400" dirty="0"/>
              <a:t>            }</a:t>
            </a:r>
          </a:p>
          <a:p>
            <a:r>
              <a:rPr lang="en-US" sz="1400" dirty="0"/>
              <a:t>        } catch (</a:t>
            </a:r>
            <a:r>
              <a:rPr lang="en-US" sz="1400" dirty="0" err="1"/>
              <a:t>InterruptedException</a:t>
            </a:r>
            <a:r>
              <a:rPr lang="en-US" sz="1400" dirty="0"/>
              <a:t> e) {}</a:t>
            </a:r>
          </a:p>
          <a:p>
            <a:r>
              <a:rPr lang="en-US" sz="1400" dirty="0"/>
              <a:t>    }</a:t>
            </a:r>
          </a:p>
          <a:p>
            <a:r>
              <a:rPr lang="en-US" sz="1400" dirty="0"/>
              <a:t>}</a:t>
            </a:r>
            <a:endParaRPr lang="uk-UA" sz="140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4325723" y="4725144"/>
            <a:ext cx="4572000" cy="181588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dirty="0"/>
              <a:t>public class </a:t>
            </a:r>
            <a:r>
              <a:rPr lang="en-US" sz="1400" dirty="0" err="1"/>
              <a:t>ProducerConsumerExample</a:t>
            </a:r>
            <a:r>
              <a:rPr lang="en-US" sz="1400" dirty="0"/>
              <a:t> {</a:t>
            </a:r>
          </a:p>
          <a:p>
            <a:r>
              <a:rPr lang="en-US" sz="1400" dirty="0"/>
              <a:t>    public static void main(String[] </a:t>
            </a:r>
            <a:r>
              <a:rPr lang="en-US" sz="1400" dirty="0" err="1"/>
              <a:t>args</a:t>
            </a:r>
            <a:r>
              <a:rPr lang="en-US" sz="1400" dirty="0"/>
              <a:t>) {</a:t>
            </a:r>
          </a:p>
          <a:p>
            <a:r>
              <a:rPr lang="en-US" sz="1400" b="1" dirty="0"/>
              <a:t>        </a:t>
            </a:r>
            <a:r>
              <a:rPr lang="en-US" sz="1400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BlockingQueue</a:t>
            </a:r>
            <a:r>
              <a:rPr lang="en-US" sz="1400" dirty="0"/>
              <a:t>&lt;String&gt; drop =</a:t>
            </a:r>
          </a:p>
          <a:p>
            <a:r>
              <a:rPr lang="en-US" sz="1400" dirty="0"/>
              <a:t>            new </a:t>
            </a:r>
            <a:r>
              <a:rPr lang="en-US" sz="1400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SynchronousQueue</a:t>
            </a:r>
            <a:r>
              <a:rPr lang="en-US" sz="1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&lt;String</a:t>
            </a:r>
            <a:r>
              <a:rPr lang="en-US" sz="1400" dirty="0"/>
              <a:t>&gt; ();</a:t>
            </a:r>
          </a:p>
          <a:p>
            <a:r>
              <a:rPr lang="en-US" sz="1400" dirty="0"/>
              <a:t>        (new Thread(new Producer(drop))).start();</a:t>
            </a:r>
          </a:p>
          <a:p>
            <a:r>
              <a:rPr lang="en-US" sz="1400" dirty="0"/>
              <a:t>        (new Thread(new Consumer(drop))).start();</a:t>
            </a:r>
          </a:p>
          <a:p>
            <a:r>
              <a:rPr lang="en-US" sz="1400" dirty="0"/>
              <a:t>    }</a:t>
            </a:r>
          </a:p>
          <a:p>
            <a:r>
              <a:rPr lang="en-US" sz="1400" dirty="0"/>
              <a:t>}</a:t>
            </a:r>
            <a:endParaRPr lang="uk-UA" sz="1400" dirty="0"/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3916576" y="191964"/>
            <a:ext cx="0" cy="63581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/>
          <p:cNvCxnSpPr/>
          <p:nvPr/>
        </p:nvCxnSpPr>
        <p:spPr>
          <a:xfrm flipH="1">
            <a:off x="4218960" y="4716607"/>
            <a:ext cx="478957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95997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93726-E3A4-384F-BCCC-BCEF1D038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Interface </a:t>
            </a:r>
            <a:r>
              <a:rPr lang="en-US" dirty="0" err="1"/>
              <a:t>BlockingQueue</a:t>
            </a:r>
            <a:endParaRPr lang="en-U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22B7BD-E963-F04B-8F7A-DF6ED11A6B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331" y="1393603"/>
            <a:ext cx="8229600" cy="5141168"/>
          </a:xfrm>
        </p:spPr>
        <p:txBody>
          <a:bodyPr>
            <a:normAutofit fontScale="55000" lnSpcReduction="20000"/>
          </a:bodyPr>
          <a:lstStyle/>
          <a:p>
            <a:r>
              <a:rPr lang="uk-UA" dirty="0"/>
              <a:t>Інтерфейс успадковує інтерфейс </a:t>
            </a:r>
            <a:r>
              <a:rPr lang="en-US" dirty="0"/>
              <a:t>Queue </a:t>
            </a:r>
            <a:r>
              <a:rPr lang="uk-UA" dirty="0"/>
              <a:t>і методи цього інтерфейсу </a:t>
            </a:r>
            <a:r>
              <a:rPr lang="en-US" dirty="0"/>
              <a:t>element</a:t>
            </a:r>
            <a:r>
              <a:rPr lang="uk-UA" dirty="0"/>
              <a:t>()</a:t>
            </a:r>
            <a:r>
              <a:rPr lang="en-US" dirty="0"/>
              <a:t>, peek</a:t>
            </a:r>
            <a:r>
              <a:rPr lang="uk-UA" dirty="0"/>
              <a:t>()</a:t>
            </a:r>
            <a:r>
              <a:rPr lang="en-US" dirty="0"/>
              <a:t>, poll</a:t>
            </a:r>
            <a:r>
              <a:rPr lang="uk-UA" dirty="0"/>
              <a:t>()</a:t>
            </a:r>
            <a:r>
              <a:rPr lang="en-US" dirty="0"/>
              <a:t>, remove</a:t>
            </a:r>
            <a:r>
              <a:rPr lang="uk-UA" dirty="0"/>
              <a:t>(), а також успадковує інтерфейс </a:t>
            </a:r>
            <a:r>
              <a:rPr lang="en-US" dirty="0"/>
              <a:t>Collection</a:t>
            </a:r>
            <a:endParaRPr lang="uk-UA" dirty="0"/>
          </a:p>
          <a:p>
            <a:r>
              <a:rPr lang="uk-UA" dirty="0"/>
              <a:t>Інтерфейс визначає типи для черг, що забезпечують безпечну (синхронізовану) їх роботу</a:t>
            </a:r>
          </a:p>
          <a:p>
            <a:r>
              <a:rPr lang="uk-UA" dirty="0"/>
              <a:t>Інтерфейс містить </a:t>
            </a:r>
          </a:p>
          <a:p>
            <a:pPr lvl="1"/>
            <a:r>
              <a:rPr lang="uk-UA" dirty="0"/>
              <a:t>методи </a:t>
            </a:r>
            <a:r>
              <a:rPr lang="en-US" dirty="0"/>
              <a:t>put(), take()</a:t>
            </a:r>
            <a:r>
              <a:rPr lang="uk-UA" dirty="0"/>
              <a:t>, що передбачають очікування у разі, якщо виконати операцію неможливо</a:t>
            </a:r>
          </a:p>
          <a:p>
            <a:pPr lvl="1"/>
            <a:r>
              <a:rPr lang="uk-UA" dirty="0"/>
              <a:t>методи </a:t>
            </a:r>
            <a:r>
              <a:rPr lang="en-US" dirty="0"/>
              <a:t>offer(), poll(), </a:t>
            </a:r>
            <a:r>
              <a:rPr lang="uk-UA" dirty="0"/>
              <a:t>що передбачають спробу виконати операцію та повертають </a:t>
            </a:r>
            <a:r>
              <a:rPr lang="uk-UA" dirty="0" err="1"/>
              <a:t>булеве</a:t>
            </a:r>
            <a:r>
              <a:rPr lang="uk-UA" dirty="0"/>
              <a:t> значення </a:t>
            </a:r>
            <a:r>
              <a:rPr lang="en-US" dirty="0"/>
              <a:t>true </a:t>
            </a:r>
            <a:r>
              <a:rPr lang="uk-UA" dirty="0"/>
              <a:t>у разі успішності виконання та </a:t>
            </a:r>
            <a:r>
              <a:rPr lang="en-US" dirty="0"/>
              <a:t>false </a:t>
            </a:r>
            <a:r>
              <a:rPr lang="uk-UA" dirty="0"/>
              <a:t>у противному випадку</a:t>
            </a:r>
          </a:p>
          <a:p>
            <a:pPr lvl="1"/>
            <a:r>
              <a:rPr lang="uk-UA" dirty="0"/>
              <a:t>методи </a:t>
            </a:r>
            <a:r>
              <a:rPr lang="en-US" dirty="0"/>
              <a:t>add(), remove()</a:t>
            </a:r>
            <a:r>
              <a:rPr lang="uk-UA" dirty="0"/>
              <a:t>, що передбачають виконання операції, якщо можливо виконати її. Метод </a:t>
            </a:r>
            <a:r>
              <a:rPr lang="en-US" dirty="0"/>
              <a:t>add()</a:t>
            </a:r>
            <a:r>
              <a:rPr lang="uk-UA" dirty="0"/>
              <a:t> викидає </a:t>
            </a:r>
            <a:r>
              <a:rPr lang="en-US" dirty="0" err="1"/>
              <a:t>IllegalStateException</a:t>
            </a:r>
            <a:r>
              <a:rPr lang="uk-UA" dirty="0"/>
              <a:t>, якщо черга переповнена</a:t>
            </a:r>
          </a:p>
          <a:p>
            <a:r>
              <a:rPr lang="uk-UA" dirty="0"/>
              <a:t>Інтерфейс реалізують такі класи</a:t>
            </a:r>
          </a:p>
          <a:p>
            <a:pPr lvl="1"/>
            <a:r>
              <a:rPr lang="en-US" dirty="0" err="1"/>
              <a:t>LinkedBlockingQueue</a:t>
            </a:r>
            <a:r>
              <a:rPr lang="uk-UA" dirty="0"/>
              <a:t>,</a:t>
            </a:r>
          </a:p>
          <a:p>
            <a:pPr lvl="1"/>
            <a:r>
              <a:rPr lang="en-US" dirty="0" err="1"/>
              <a:t>LinkedBlockingDeque</a:t>
            </a:r>
            <a:r>
              <a:rPr lang="en-US" dirty="0"/>
              <a:t>,</a:t>
            </a:r>
            <a:endParaRPr lang="uk-UA" dirty="0"/>
          </a:p>
          <a:p>
            <a:pPr lvl="1"/>
            <a:r>
              <a:rPr lang="en-US" dirty="0" err="1"/>
              <a:t>ArrayBlockingQueue</a:t>
            </a:r>
            <a:r>
              <a:rPr lang="en-US" dirty="0"/>
              <a:t>, </a:t>
            </a:r>
            <a:endParaRPr lang="uk-UA" dirty="0"/>
          </a:p>
          <a:p>
            <a:pPr lvl="1"/>
            <a:r>
              <a:rPr lang="en-US" dirty="0" err="1"/>
              <a:t>SynchronousQueue</a:t>
            </a:r>
            <a:endParaRPr lang="uk-UA" dirty="0"/>
          </a:p>
          <a:p>
            <a:pPr lvl="1"/>
            <a:r>
              <a:rPr lang="en-US" dirty="0" err="1"/>
              <a:t>DelayQueue</a:t>
            </a:r>
            <a:r>
              <a:rPr lang="en-US" dirty="0"/>
              <a:t>, </a:t>
            </a:r>
            <a:endParaRPr lang="uk-UA" dirty="0"/>
          </a:p>
          <a:p>
            <a:pPr lvl="1"/>
            <a:r>
              <a:rPr lang="en-US" dirty="0" err="1"/>
              <a:t>LinkedTransferQueue</a:t>
            </a:r>
            <a:r>
              <a:rPr lang="en-US" dirty="0"/>
              <a:t>, </a:t>
            </a:r>
            <a:endParaRPr lang="uk-UA" dirty="0"/>
          </a:p>
          <a:p>
            <a:pPr lvl="1"/>
            <a:r>
              <a:rPr lang="en-US" dirty="0" err="1"/>
              <a:t>PriorityBlockingQueue</a:t>
            </a:r>
            <a:r>
              <a:rPr lang="en-US" dirty="0"/>
              <a:t>, </a:t>
            </a:r>
            <a:endParaRPr lang="uk-UA" dirty="0"/>
          </a:p>
          <a:p>
            <a:r>
              <a:rPr lang="uk-UA" dirty="0"/>
              <a:t>Наведені класи відрізняються правилами вставки та вилучення з черги, за допомогою конструкторів можна створювати обмежену чи необмежену чергу. Передивіться документацію цих класів!</a:t>
            </a:r>
          </a:p>
          <a:p>
            <a:pPr lvl="1"/>
            <a:endParaRPr lang="uk-UA" dirty="0"/>
          </a:p>
          <a:p>
            <a:pPr marL="0" indent="0">
              <a:buNone/>
            </a:pPr>
            <a:endParaRPr lang="en-UA" dirty="0"/>
          </a:p>
        </p:txBody>
      </p:sp>
    </p:spTree>
    <p:extLst>
      <p:ext uri="{BB962C8B-B14F-4D97-AF65-F5344CB8AC3E}">
        <p14:creationId xmlns:p14="http://schemas.microsoft.com/office/powerpoint/2010/main" val="33335700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D3372-2D1A-D047-975A-BA7A0B014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Executing Streams in Parallel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76C065-8E8E-604B-A875-E8BCDFF582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docs.oracle.com</a:t>
            </a:r>
            <a:r>
              <a:rPr lang="en-US" dirty="0"/>
              <a:t>/</a:t>
            </a:r>
            <a:r>
              <a:rPr lang="en-US" dirty="0" err="1"/>
              <a:t>javase</a:t>
            </a:r>
            <a:r>
              <a:rPr lang="en-US" dirty="0"/>
              <a:t>/tutorial/collections/streams/</a:t>
            </a:r>
            <a:r>
              <a:rPr lang="en-US" dirty="0" err="1"/>
              <a:t>parallelism.html</a:t>
            </a:r>
            <a:endParaRPr lang="en-UA" dirty="0"/>
          </a:p>
        </p:txBody>
      </p:sp>
    </p:spTree>
    <p:extLst>
      <p:ext uri="{BB962C8B-B14F-4D97-AF65-F5344CB8AC3E}">
        <p14:creationId xmlns:p14="http://schemas.microsoft.com/office/powerpoint/2010/main" val="33230662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46F3D-976F-1B47-9A1A-FA33B45AE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rmAutofit fontScale="90000"/>
          </a:bodyPr>
          <a:lstStyle/>
          <a:p>
            <a:r>
              <a:rPr lang="uk-UA" dirty="0"/>
              <a:t>Атомарні (</a:t>
            </a:r>
            <a:r>
              <a:rPr lang="en-US" dirty="0"/>
              <a:t>Atomic</a:t>
            </a:r>
            <a:r>
              <a:rPr lang="uk-UA" dirty="0"/>
              <a:t>)</a:t>
            </a:r>
            <a:r>
              <a:rPr lang="en-US" dirty="0"/>
              <a:t> </a:t>
            </a:r>
            <a:r>
              <a:rPr lang="uk-UA" dirty="0"/>
              <a:t>операції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6D8A7A-B8FD-3840-ABB1-024AF1BCD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836712"/>
            <a:ext cx="8915400" cy="5904656"/>
          </a:xfrm>
        </p:spPr>
        <p:txBody>
          <a:bodyPr>
            <a:normAutofit lnSpcReduction="10000"/>
          </a:bodyPr>
          <a:lstStyle/>
          <a:p>
            <a:r>
              <a:rPr lang="uk-UA" dirty="0"/>
              <a:t>Операції </a:t>
            </a:r>
            <a:r>
              <a:rPr lang="en-US" dirty="0"/>
              <a:t>read/write </a:t>
            </a:r>
            <a:r>
              <a:rPr lang="uk-UA" dirty="0"/>
              <a:t>є атомарними</a:t>
            </a:r>
            <a:r>
              <a:rPr lang="en-US" dirty="0"/>
              <a:t> </a:t>
            </a:r>
            <a:r>
              <a:rPr lang="uk-UA" dirty="0"/>
              <a:t>для змінних</a:t>
            </a:r>
            <a:r>
              <a:rPr lang="en-US" dirty="0"/>
              <a:t> </a:t>
            </a:r>
            <a:r>
              <a:rPr lang="uk-UA" dirty="0"/>
              <a:t>посилальних</a:t>
            </a:r>
            <a:r>
              <a:rPr lang="en-US" dirty="0"/>
              <a:t> </a:t>
            </a:r>
            <a:r>
              <a:rPr lang="uk-UA" dirty="0"/>
              <a:t>типів</a:t>
            </a:r>
            <a:r>
              <a:rPr lang="en-US" dirty="0"/>
              <a:t> </a:t>
            </a:r>
            <a:r>
              <a:rPr lang="uk-UA" dirty="0"/>
              <a:t>та більшості примітивних  типів </a:t>
            </a:r>
            <a:r>
              <a:rPr lang="en-US" dirty="0"/>
              <a:t>(</a:t>
            </a:r>
            <a:r>
              <a:rPr lang="uk-UA" dirty="0"/>
              <a:t>усіх окрім </a:t>
            </a:r>
            <a:r>
              <a:rPr lang="en-US" dirty="0"/>
              <a:t> 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dirty="0"/>
              <a:t> </a:t>
            </a:r>
            <a:r>
              <a:rPr lang="uk-UA" dirty="0"/>
              <a:t>та</a:t>
            </a:r>
            <a:r>
              <a:rPr lang="en-US" dirty="0"/>
              <a:t> 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dirty="0"/>
              <a:t>).</a:t>
            </a:r>
          </a:p>
          <a:p>
            <a:r>
              <a:rPr lang="uk-UA" dirty="0"/>
              <a:t>Операції </a:t>
            </a:r>
            <a:r>
              <a:rPr lang="en-US" dirty="0"/>
              <a:t>read/write </a:t>
            </a:r>
            <a:r>
              <a:rPr lang="uk-UA" dirty="0"/>
              <a:t>є атомарними для </a:t>
            </a:r>
            <a:r>
              <a:rPr lang="uk-UA" b="1" u="sng" dirty="0"/>
              <a:t>усіх </a:t>
            </a:r>
            <a:r>
              <a:rPr lang="uk-UA" dirty="0"/>
              <a:t>змінних, декларованих з ключовим словом </a:t>
            </a:r>
            <a:r>
              <a:rPr lang="en-US" dirty="0"/>
              <a:t> 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volatile</a:t>
            </a:r>
            <a:r>
              <a:rPr lang="en-US" dirty="0"/>
              <a:t> (</a:t>
            </a:r>
            <a:r>
              <a:rPr lang="uk-UA" u="sng" dirty="0"/>
              <a:t>включно з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uk-UA" dirty="0"/>
              <a:t>та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uk-UA" dirty="0"/>
              <a:t>змінними</a:t>
            </a:r>
            <a:r>
              <a:rPr lang="en-US" dirty="0"/>
              <a:t>).</a:t>
            </a:r>
          </a:p>
          <a:p>
            <a:r>
              <a:rPr lang="uk-UA" dirty="0"/>
              <a:t>Атомарні операції не можуть перериватись іншими потоками, тому такі операції є безпечними.</a:t>
            </a:r>
            <a:endParaRPr lang="en-US" dirty="0"/>
          </a:p>
          <a:p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volatile</a:t>
            </a:r>
            <a:r>
              <a:rPr lang="en-US" dirty="0"/>
              <a:t>  </a:t>
            </a:r>
            <a:r>
              <a:rPr lang="uk-UA" dirty="0"/>
              <a:t>гарантує пріоритет операції </a:t>
            </a:r>
            <a:r>
              <a:rPr lang="en-US" dirty="0"/>
              <a:t>write</a:t>
            </a:r>
            <a:r>
              <a:rPr lang="uk-UA" dirty="0"/>
              <a:t> (по відношенню до операції </a:t>
            </a:r>
            <a:r>
              <a:rPr lang="en-US" dirty="0"/>
              <a:t>read</a:t>
            </a:r>
            <a:r>
              <a:rPr lang="uk-UA" dirty="0"/>
              <a:t>).</a:t>
            </a:r>
          </a:p>
          <a:p>
            <a:endParaRPr lang="uk-UA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01277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91ABC-2E77-D7A6-05C1-9981B1110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A" dirty="0"/>
              <a:t>Compare and Swap (CAS) м</a:t>
            </a:r>
            <a:r>
              <a:rPr lang="uk-UA" dirty="0" err="1"/>
              <a:t>еханізм</a:t>
            </a:r>
            <a:endParaRPr lang="en-U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92FEF8-8941-CD3F-D76D-7EA5B46ECB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uk-UA" dirty="0"/>
              <a:t>Механізм </a:t>
            </a:r>
            <a:r>
              <a:rPr lang="en-UA" dirty="0"/>
              <a:t>CAS</a:t>
            </a:r>
            <a:r>
              <a:rPr lang="uk-UA" dirty="0"/>
              <a:t> забезпечує, що операція буде виконана тільки одним потоком </a:t>
            </a:r>
            <a:r>
              <a:rPr lang="uk-UA" u="sng" dirty="0"/>
              <a:t>без</a:t>
            </a:r>
            <a:r>
              <a:rPr lang="uk-UA" dirty="0"/>
              <a:t> блокування потоку</a:t>
            </a:r>
          </a:p>
          <a:p>
            <a:r>
              <a:rPr lang="uk-UA" dirty="0"/>
              <a:t>Сучасні процесори мають вбудовану реалізацію цього механізму, а саме: процесор гарантує, що не більше одного потоку зможуть виконати </a:t>
            </a:r>
            <a:r>
              <a:rPr lang="en-UA" dirty="0"/>
              <a:t>CAS </a:t>
            </a:r>
            <a:r>
              <a:rPr lang="uk-UA" dirty="0"/>
              <a:t>операцію в один момент часу (в один такт процесора).</a:t>
            </a:r>
          </a:p>
          <a:p>
            <a:r>
              <a:rPr lang="uk-UA" dirty="0"/>
              <a:t>Оновлення значення за механізмом </a:t>
            </a:r>
            <a:r>
              <a:rPr lang="en-UA" dirty="0"/>
              <a:t>CAS</a:t>
            </a:r>
            <a:r>
              <a:rPr lang="uk-UA" dirty="0"/>
              <a:t> відбувається </a:t>
            </a:r>
            <a:r>
              <a:rPr lang="uk-UA" u="sng" dirty="0"/>
              <a:t>тільки і тільки якщо</a:t>
            </a:r>
            <a:r>
              <a:rPr lang="uk-UA" dirty="0"/>
              <a:t> між читанням значення та спробою оновити значення не відбулась зміна його іншим потоком. Фактично виконується порівняння прочитаного раніше значення (</a:t>
            </a:r>
            <a:r>
              <a:rPr lang="en-US" dirty="0"/>
              <a:t>expected value)</a:t>
            </a:r>
            <a:r>
              <a:rPr lang="uk-UA" dirty="0"/>
              <a:t> з тим, яке зберігається у </a:t>
            </a:r>
            <a:r>
              <a:rPr lang="uk-UA" dirty="0" err="1"/>
              <a:t>памʼяті</a:t>
            </a:r>
            <a:r>
              <a:rPr lang="uk-UA" dirty="0"/>
              <a:t> на момент спроби записати нове значення</a:t>
            </a:r>
            <a:r>
              <a:rPr lang="en-US" dirty="0"/>
              <a:t> (current value)</a:t>
            </a:r>
            <a:r>
              <a:rPr lang="uk-UA" dirty="0"/>
              <a:t>. Якщо</a:t>
            </a:r>
            <a:r>
              <a:rPr lang="en-US" dirty="0"/>
              <a:t> </a:t>
            </a:r>
            <a:r>
              <a:rPr lang="uk-UA" dirty="0"/>
              <a:t>спроба неуспішна, то потоку буде відмовлено в оновленні значення і він повторить свою у наступній ітерації.</a:t>
            </a:r>
          </a:p>
          <a:p>
            <a:r>
              <a:rPr lang="uk-UA" dirty="0"/>
              <a:t>Через </a:t>
            </a:r>
            <a:r>
              <a:rPr lang="uk-UA" dirty="0" err="1"/>
              <a:t>низькорівневе</a:t>
            </a:r>
            <a:r>
              <a:rPr lang="uk-UA" dirty="0"/>
              <a:t> (на рівні </a:t>
            </a:r>
            <a:r>
              <a:rPr lang="en-US" dirty="0"/>
              <a:t>CPU</a:t>
            </a:r>
            <a:r>
              <a:rPr lang="uk-UA" dirty="0"/>
              <a:t>) забезпечення </a:t>
            </a:r>
            <a:r>
              <a:rPr lang="en-UA" dirty="0"/>
              <a:t>CAS</a:t>
            </a:r>
            <a:r>
              <a:rPr lang="uk-UA" dirty="0"/>
              <a:t> атомарні операції мають більше швидкодію.</a:t>
            </a:r>
          </a:p>
          <a:p>
            <a:endParaRPr lang="uk-UA" dirty="0"/>
          </a:p>
          <a:p>
            <a:endParaRPr lang="en-UA" dirty="0"/>
          </a:p>
        </p:txBody>
      </p:sp>
    </p:spTree>
    <p:extLst>
      <p:ext uri="{BB962C8B-B14F-4D97-AF65-F5344CB8AC3E}">
        <p14:creationId xmlns:p14="http://schemas.microsoft.com/office/powerpoint/2010/main" val="39293134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uk-UA" dirty="0"/>
              <a:t>Атомарні (</a:t>
            </a:r>
            <a:r>
              <a:rPr lang="en-US" dirty="0"/>
              <a:t>Atomic</a:t>
            </a:r>
            <a:r>
              <a:rPr lang="uk-UA" dirty="0"/>
              <a:t>)</a:t>
            </a:r>
            <a:r>
              <a:rPr lang="en-US" dirty="0"/>
              <a:t> </a:t>
            </a:r>
            <a:r>
              <a:rPr lang="uk-UA" dirty="0"/>
              <a:t>змінні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836712"/>
            <a:ext cx="8229600" cy="1656184"/>
          </a:xfrm>
        </p:spPr>
        <p:txBody>
          <a:bodyPr>
            <a:normAutofit fontScale="77500" lnSpcReduction="20000"/>
          </a:bodyPr>
          <a:lstStyle/>
          <a:p>
            <a:r>
              <a:rPr lang="uk-UA" sz="2400" dirty="0"/>
              <a:t>Належать класам, які забезпечують атомарні операції зі змінними</a:t>
            </a:r>
          </a:p>
          <a:p>
            <a:r>
              <a:rPr lang="uk-UA" sz="2400" dirty="0"/>
              <a:t>Наприклад, класи </a:t>
            </a:r>
            <a:r>
              <a:rPr lang="en-US" sz="2400" dirty="0" err="1">
                <a:latin typeface="Courier New" pitchFamily="49" charset="0"/>
                <a:cs typeface="Courier New" pitchFamily="49" charset="0"/>
              </a:rPr>
              <a:t>AtomicBoolean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2400" dirty="0" err="1">
                <a:latin typeface="Courier New" pitchFamily="49" charset="0"/>
                <a:cs typeface="Courier New" pitchFamily="49" charset="0"/>
              </a:rPr>
              <a:t>AtomicInteger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2400" dirty="0" err="1">
                <a:latin typeface="Courier New" pitchFamily="49" charset="0"/>
                <a:cs typeface="Courier New" pitchFamily="49" charset="0"/>
              </a:rPr>
              <a:t>AtomicLong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2400" dirty="0" err="1">
                <a:latin typeface="Courier New" pitchFamily="49" charset="0"/>
                <a:cs typeface="Courier New" pitchFamily="49" charset="0"/>
              </a:rPr>
              <a:t>AtomicReference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&lt;V&gt;, </a:t>
            </a:r>
            <a:r>
              <a:rPr lang="en-US" sz="2400" dirty="0" err="1">
                <a:latin typeface="Courier New" pitchFamily="49" charset="0"/>
                <a:cs typeface="Courier New" pitchFamily="49" charset="0"/>
              </a:rPr>
              <a:t>AtomicIntegerArray</a:t>
            </a:r>
            <a:r>
              <a:rPr lang="en-US" sz="2400" dirty="0"/>
              <a:t>,….</a:t>
            </a:r>
            <a:endParaRPr lang="uk-UA" sz="2400" dirty="0"/>
          </a:p>
          <a:p>
            <a:r>
              <a:rPr lang="uk-UA" sz="2400" dirty="0"/>
              <a:t>Атомарні класи забезпечують </a:t>
            </a:r>
            <a:r>
              <a:rPr lang="uk-UA" sz="2400" dirty="0" err="1"/>
              <a:t>низькорівневу</a:t>
            </a:r>
            <a:r>
              <a:rPr lang="uk-UA" sz="2400" dirty="0"/>
              <a:t> синхронізацію (більш швидку). Тому бажано використовувати </a:t>
            </a:r>
            <a:r>
              <a:rPr lang="uk-UA" sz="2400" dirty="0" err="1"/>
              <a:t>атомік</a:t>
            </a:r>
            <a:r>
              <a:rPr lang="uk-UA" sz="2400" dirty="0"/>
              <a:t> клас для змінної там, де такої синхронізації достатньо.</a:t>
            </a:r>
          </a:p>
          <a:p>
            <a:endParaRPr lang="uk-UA" sz="24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755576" y="2492896"/>
            <a:ext cx="822960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Courier" pitchFamily="2" charset="0"/>
              </a:rPr>
              <a:t>private </a:t>
            </a:r>
            <a:r>
              <a:rPr lang="en-US" sz="1600" b="1" dirty="0" err="1">
                <a:latin typeface="Courier" pitchFamily="2" charset="0"/>
              </a:rPr>
              <a:t>AtomicInteger</a:t>
            </a:r>
            <a:r>
              <a:rPr lang="en-US" sz="1600" dirty="0">
                <a:latin typeface="Courier" pitchFamily="2" charset="0"/>
              </a:rPr>
              <a:t> c = new </a:t>
            </a:r>
            <a:r>
              <a:rPr lang="en-US" sz="1600" b="1" dirty="0" err="1">
                <a:latin typeface="Courier" pitchFamily="2" charset="0"/>
              </a:rPr>
              <a:t>AtomicInteger</a:t>
            </a:r>
            <a:r>
              <a:rPr lang="en-US" sz="1600" dirty="0">
                <a:latin typeface="Courier" pitchFamily="2" charset="0"/>
              </a:rPr>
              <a:t>(0);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dirty="0">
                <a:latin typeface="Courier" pitchFamily="2" charset="0"/>
              </a:rPr>
              <a:t>for(int j=0; j&lt;10000; </a:t>
            </a:r>
            <a:r>
              <a:rPr lang="en-US" sz="1600" dirty="0" err="1">
                <a:latin typeface="Courier" pitchFamily="2" charset="0"/>
              </a:rPr>
              <a:t>j++</a:t>
            </a:r>
            <a:r>
              <a:rPr lang="en-US" sz="1600" dirty="0">
                <a:latin typeface="Courier" pitchFamily="2" charset="0"/>
              </a:rPr>
              <a:t>)</a:t>
            </a:r>
          </a:p>
          <a:p>
            <a:r>
              <a:rPr lang="en-US" sz="1600" dirty="0">
                <a:latin typeface="Courier" pitchFamily="2" charset="0"/>
              </a:rPr>
              <a:t>    </a:t>
            </a:r>
            <a:r>
              <a:rPr lang="en-US" sz="1600" dirty="0" err="1">
                <a:latin typeface="Courier" pitchFamily="2" charset="0"/>
              </a:rPr>
              <a:t>c.</a:t>
            </a:r>
            <a:r>
              <a:rPr lang="en-US" sz="1600" b="1" dirty="0" err="1">
                <a:latin typeface="Courier" pitchFamily="2" charset="0"/>
              </a:rPr>
              <a:t>incrementAndGet</a:t>
            </a:r>
            <a:r>
              <a:rPr lang="en-US" sz="1600" dirty="0">
                <a:latin typeface="Courier" pitchFamily="2" charset="0"/>
              </a:rPr>
              <a:t>();</a:t>
            </a:r>
            <a:r>
              <a:rPr lang="uk-UA" sz="1600" dirty="0">
                <a:latin typeface="Courier" pitchFamily="2" charset="0"/>
              </a:rPr>
              <a:t>  // </a:t>
            </a:r>
            <a:r>
              <a:rPr lang="uk-UA" sz="1000" dirty="0">
                <a:latin typeface="Courier" pitchFamily="2" charset="0"/>
              </a:rPr>
              <a:t>спеціальні методи класу для арифметичних операцій</a:t>
            </a:r>
            <a:endParaRPr lang="en-US" sz="1000" dirty="0">
              <a:latin typeface="Courier" pitchFamily="2" charset="0"/>
            </a:endParaRPr>
          </a:p>
          <a:p>
            <a:r>
              <a:rPr lang="en-US" sz="1600" dirty="0">
                <a:latin typeface="Courier" pitchFamily="2" charset="0"/>
              </a:rPr>
              <a:t>    </a:t>
            </a:r>
          </a:p>
          <a:p>
            <a:r>
              <a:rPr lang="en-US" sz="1600" dirty="0" err="1">
                <a:latin typeface="Courier" pitchFamily="2" charset="0"/>
              </a:rPr>
              <a:t>System.out.println</a:t>
            </a:r>
            <a:r>
              <a:rPr lang="en-US" sz="1600" dirty="0">
                <a:latin typeface="Courier" pitchFamily="2" charset="0"/>
              </a:rPr>
              <a:t>(</a:t>
            </a:r>
            <a:r>
              <a:rPr lang="en-US" sz="1600" dirty="0" err="1">
                <a:latin typeface="Courier" pitchFamily="2" charset="0"/>
              </a:rPr>
              <a:t>c.</a:t>
            </a:r>
            <a:r>
              <a:rPr lang="en-US" sz="1600" b="1" dirty="0" err="1">
                <a:latin typeface="Courier" pitchFamily="2" charset="0"/>
              </a:rPr>
              <a:t>get</a:t>
            </a:r>
            <a:r>
              <a:rPr lang="en-US" sz="1600" dirty="0">
                <a:latin typeface="Courier" pitchFamily="2" charset="0"/>
              </a:rPr>
              <a:t>());</a:t>
            </a:r>
          </a:p>
          <a:p>
            <a:r>
              <a:rPr lang="en-US" sz="1600" dirty="0">
                <a:latin typeface="Courier" pitchFamily="2" charset="0"/>
              </a:rPr>
              <a:t>    </a:t>
            </a:r>
          </a:p>
          <a:p>
            <a:endParaRPr lang="uk-UA" sz="1600" dirty="0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A9BE550D-E613-9BCC-3B67-1C0D27E69C5D}"/>
              </a:ext>
            </a:extLst>
          </p:cNvPr>
          <p:cNvSpPr txBox="1">
            <a:spLocks/>
          </p:cNvSpPr>
          <p:nvPr/>
        </p:nvSpPr>
        <p:spPr>
          <a:xfrm>
            <a:off x="611560" y="4365105"/>
            <a:ext cx="8229600" cy="16561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uk-UA" sz="1900" dirty="0"/>
              <a:t>Застосування </a:t>
            </a:r>
            <a:r>
              <a:rPr lang="en-US" sz="1900" dirty="0"/>
              <a:t>CAS</a:t>
            </a:r>
            <a:r>
              <a:rPr lang="uk-UA" sz="1900" dirty="0"/>
              <a:t> дає змогу використовувати </a:t>
            </a:r>
            <a:r>
              <a:rPr lang="uk-UA" sz="1900" dirty="0" err="1"/>
              <a:t>безблокову</a:t>
            </a:r>
            <a:r>
              <a:rPr lang="uk-UA" sz="1900" dirty="0"/>
              <a:t> (</a:t>
            </a:r>
            <a:r>
              <a:rPr lang="en-US" sz="1900" dirty="0"/>
              <a:t>lock-free)</a:t>
            </a:r>
            <a:r>
              <a:rPr lang="uk-UA" sz="1900" dirty="0"/>
              <a:t> синхронізацію доступу до даних, що ґрунтується на </a:t>
            </a:r>
            <a:r>
              <a:rPr lang="en-US" sz="1900" dirty="0"/>
              <a:t>CAS </a:t>
            </a:r>
            <a:r>
              <a:rPr lang="uk-UA" sz="1900" dirty="0"/>
              <a:t>операції.</a:t>
            </a:r>
          </a:p>
        </p:txBody>
      </p:sp>
    </p:spTree>
    <p:extLst>
      <p:ext uri="{BB962C8B-B14F-4D97-AF65-F5344CB8AC3E}">
        <p14:creationId xmlns:p14="http://schemas.microsoft.com/office/powerpoint/2010/main" val="399407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24FDF-1B97-DD38-65F7-9444B8057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dirty="0"/>
              <a:t>Різниця між </a:t>
            </a:r>
            <a:r>
              <a:rPr lang="en-UA" dirty="0"/>
              <a:t>Concurrent </a:t>
            </a:r>
            <a:r>
              <a:rPr lang="uk-UA" dirty="0"/>
              <a:t>та </a:t>
            </a:r>
            <a:r>
              <a:rPr lang="en-UA" dirty="0"/>
              <a:t>Synchronized </a:t>
            </a:r>
            <a:r>
              <a:rPr lang="uk-UA" dirty="0"/>
              <a:t>колекціями.</a:t>
            </a:r>
            <a:endParaRPr lang="en-U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CCDC65-1B84-28E4-ECE9-B99368DB14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A" dirty="0"/>
              <a:t>Synchronized</a:t>
            </a:r>
            <a:r>
              <a:rPr lang="uk-UA" dirty="0"/>
              <a:t> забезпечують обробку даних колекції з блокуванням</a:t>
            </a:r>
          </a:p>
          <a:p>
            <a:r>
              <a:rPr lang="en-UA" dirty="0"/>
              <a:t>Concurrent</a:t>
            </a:r>
            <a:r>
              <a:rPr lang="uk-UA" dirty="0"/>
              <a:t> забезпечують обробку даних колекції атомарними операціями (без блокування)</a:t>
            </a:r>
            <a:endParaRPr lang="en-UA" dirty="0"/>
          </a:p>
        </p:txBody>
      </p:sp>
    </p:spTree>
    <p:extLst>
      <p:ext uri="{BB962C8B-B14F-4D97-AF65-F5344CB8AC3E}">
        <p14:creationId xmlns:p14="http://schemas.microsoft.com/office/powerpoint/2010/main" val="36023494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A4705-AA71-7B4E-93B0-270EDCFD3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Незмінні (</a:t>
            </a:r>
            <a:r>
              <a:rPr lang="en-US" dirty="0"/>
              <a:t>immutable) </a:t>
            </a:r>
            <a:r>
              <a:rPr lang="uk-UA" dirty="0"/>
              <a:t>об’єкти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30F088-5003-714D-8AE5-B0D8EBCCA5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uk-UA" dirty="0"/>
              <a:t>Об’єкт, стан яких не може бути змінений в ході виконання програми, називають незмінними </a:t>
            </a:r>
            <a:r>
              <a:rPr lang="en-US" dirty="0"/>
              <a:t>(immutable). </a:t>
            </a:r>
            <a:r>
              <a:rPr lang="uk-UA" dirty="0"/>
              <a:t>Зокрема, якщо клас для створення </a:t>
            </a:r>
            <a:r>
              <a:rPr lang="uk-UA" dirty="0" err="1"/>
              <a:t>обʼєкта</a:t>
            </a:r>
            <a:r>
              <a:rPr lang="uk-UA" dirty="0"/>
              <a:t> не містить методів для його модифікації (лише тільки методи для читання його стану).</a:t>
            </a:r>
          </a:p>
          <a:p>
            <a:r>
              <a:rPr lang="uk-UA" dirty="0"/>
              <a:t>Якщо об’єкт не має полів або має поля виключно </a:t>
            </a:r>
            <a:r>
              <a:rPr lang="uk-UA" u="sng" dirty="0"/>
              <a:t>примітивних </a:t>
            </a:r>
            <a:r>
              <a:rPr lang="uk-UA" dirty="0"/>
              <a:t>типів, позначених модифікаторами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private final</a:t>
            </a:r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uk-UA" dirty="0">
                <a:cs typeface="Arial" panose="020B0604020202020204" pitchFamily="34" charset="0"/>
              </a:rPr>
              <a:t>то він є незмінним</a:t>
            </a:r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dirty="0"/>
              <a:t>immutable</a:t>
            </a:r>
            <a:r>
              <a:rPr lang="uk-UA" dirty="0"/>
              <a:t>)</a:t>
            </a:r>
            <a:r>
              <a:rPr lang="en-US" dirty="0"/>
              <a:t> </a:t>
            </a:r>
            <a:r>
              <a:rPr lang="uk-UA" dirty="0"/>
              <a:t>.</a:t>
            </a:r>
          </a:p>
          <a:p>
            <a:r>
              <a:rPr lang="uk-UA" dirty="0"/>
              <a:t>Такі змінні є безпечними при використанні в потоках, оскільки не потребують синхронізації</a:t>
            </a:r>
          </a:p>
          <a:p>
            <a:r>
              <a:rPr lang="uk-UA" dirty="0"/>
              <a:t>!!! Якщо об’єкт має поля, які є посиланнями на об’єкти, то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private final </a:t>
            </a:r>
            <a:r>
              <a:rPr lang="uk-UA" dirty="0">
                <a:cs typeface="Courier New" panose="02070309020205020404" pitchFamily="49" charset="0"/>
              </a:rPr>
              <a:t>гарантує незмінюваність посилання на об’єкт, але не незмінюваність значень, які містяться за посиланням. Д</a:t>
            </a:r>
            <a:r>
              <a:rPr lang="uk-UA" dirty="0"/>
              <a:t>ля забезпечення незмінюваності об’єкта для таких полів </a:t>
            </a:r>
            <a:r>
              <a:rPr lang="uk-UA" b="1" u="sng" dirty="0"/>
              <a:t>не</a:t>
            </a:r>
            <a:r>
              <a:rPr lang="uk-UA" dirty="0"/>
              <a:t> мають використовуватись методи, які можуть змінити їх стан, а також такі поля не можна передавати в інші потоки.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4281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1FF45-9D1A-BF4F-B328-7FE671E72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Використані ресурси</a:t>
            </a:r>
            <a:endParaRPr lang="en-U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23C91-998E-9146-A628-4C800E0225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The Java™ Tutorials: Concurrency</a:t>
            </a:r>
          </a:p>
          <a:p>
            <a:r>
              <a:rPr lang="en-US" dirty="0"/>
              <a:t>https://</a:t>
            </a:r>
            <a:r>
              <a:rPr lang="en-US" dirty="0" err="1"/>
              <a:t>docs.oracle.com</a:t>
            </a:r>
            <a:r>
              <a:rPr lang="en-US" dirty="0"/>
              <a:t>/</a:t>
            </a:r>
            <a:r>
              <a:rPr lang="en-US" dirty="0" err="1"/>
              <a:t>javase</a:t>
            </a:r>
            <a:r>
              <a:rPr lang="en-US" dirty="0"/>
              <a:t>/8/docs/</a:t>
            </a:r>
            <a:r>
              <a:rPr lang="en-US" dirty="0" err="1"/>
              <a:t>api</a:t>
            </a:r>
            <a:r>
              <a:rPr lang="en-US" dirty="0"/>
              <a:t>/java/util/concurrent/locks/</a:t>
            </a:r>
            <a:r>
              <a:rPr lang="en-US" dirty="0" err="1"/>
              <a:t>Condition.html</a:t>
            </a:r>
            <a:endParaRPr lang="en-UA" dirty="0"/>
          </a:p>
        </p:txBody>
      </p:sp>
    </p:spTree>
    <p:extLst>
      <p:ext uri="{BB962C8B-B14F-4D97-AF65-F5344CB8AC3E}">
        <p14:creationId xmlns:p14="http://schemas.microsoft.com/office/powerpoint/2010/main" val="301507485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23407</TotalTime>
  <Words>1821</Words>
  <Application>Microsoft Macintosh PowerPoint</Application>
  <PresentationFormat>On-screen Show (4:3)</PresentationFormat>
  <Paragraphs>216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Courier</vt:lpstr>
      <vt:lpstr>Courier New</vt:lpstr>
      <vt:lpstr>Тема Office</vt:lpstr>
      <vt:lpstr>Високорівневі засоби паралельного програмування  в технології java </vt:lpstr>
      <vt:lpstr>Високорівневі засоби управління потоками</vt:lpstr>
      <vt:lpstr>Властивість Reentrance</vt:lpstr>
      <vt:lpstr>Інтерфейс Lock</vt:lpstr>
      <vt:lpstr>Клас ReentrantLock</vt:lpstr>
      <vt:lpstr>Задача Producer-Consumer</vt:lpstr>
      <vt:lpstr>Інтерфейс Condition</vt:lpstr>
      <vt:lpstr>Схематичне представлення взаємодії потоків</vt:lpstr>
      <vt:lpstr>Concurrent Collections</vt:lpstr>
      <vt:lpstr>PowerPoint Presentation</vt:lpstr>
      <vt:lpstr>Interface BlockingQueue</vt:lpstr>
      <vt:lpstr>Executing Streams in Parallel</vt:lpstr>
      <vt:lpstr>Атомарні (Atomic) операції</vt:lpstr>
      <vt:lpstr>Compare and Swap (CAS) механізм</vt:lpstr>
      <vt:lpstr>Атомарні (Atomic) змінні</vt:lpstr>
      <vt:lpstr>Різниця між Concurrent та Synchronized колекціями.</vt:lpstr>
      <vt:lpstr>Незмінні (immutable) об’єкти</vt:lpstr>
      <vt:lpstr>Використані ресурси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Високорівневі засоби багатопоточної технології java </dc:title>
  <dc:creator>Саша</dc:creator>
  <cp:lastModifiedBy>Inna Stetsenko</cp:lastModifiedBy>
  <cp:revision>133</cp:revision>
  <dcterms:created xsi:type="dcterms:W3CDTF">2016-10-11T05:08:54Z</dcterms:created>
  <dcterms:modified xsi:type="dcterms:W3CDTF">2026-02-16T13:54:24Z</dcterms:modified>
</cp:coreProperties>
</file>